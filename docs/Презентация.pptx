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71" r:id="rId1"/>
    <p:sldMasterId id="2147483657" r:id="rId2"/>
    <p:sldMasterId id="2147483833" r:id="rId3"/>
  </p:sldMasterIdLst>
  <p:notesMasterIdLst>
    <p:notesMasterId r:id="rId20"/>
  </p:notesMasterIdLst>
  <p:handoutMasterIdLst>
    <p:handoutMasterId r:id="rId21"/>
  </p:handoutMasterIdLst>
  <p:sldIdLst>
    <p:sldId id="1171" r:id="rId4"/>
    <p:sldId id="1126" r:id="rId5"/>
    <p:sldId id="1201" r:id="rId6"/>
    <p:sldId id="1172" r:id="rId7"/>
    <p:sldId id="1102" r:id="rId8"/>
    <p:sldId id="1205" r:id="rId9"/>
    <p:sldId id="1202" r:id="rId10"/>
    <p:sldId id="1203" r:id="rId11"/>
    <p:sldId id="1204" r:id="rId12"/>
    <p:sldId id="1185" r:id="rId13"/>
    <p:sldId id="1209" r:id="rId14"/>
    <p:sldId id="1210" r:id="rId15"/>
    <p:sldId id="1208" r:id="rId16"/>
    <p:sldId id="1207" r:id="rId17"/>
    <p:sldId id="1206" r:id="rId18"/>
    <p:sldId id="1197" r:id="rId19"/>
  </p:sldIdLst>
  <p:sldSz cx="12192000" cy="6858000"/>
  <p:notesSz cx="6858000" cy="9144000"/>
  <p:embeddedFontLs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roboto" panose="020B0604020202020204" charset="0"/>
      <p:regular r:id="rId26"/>
      <p:bold r:id="rId27"/>
      <p:italic r:id="rId28"/>
      <p:boldItalic r:id="rId2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уководство" id="{E6ECDA77-1B8E-0E4F-8DDA-529EB99512FD}">
          <p14:sldIdLst>
            <p14:sldId id="1171"/>
            <p14:sldId id="1126"/>
            <p14:sldId id="1201"/>
            <p14:sldId id="1172"/>
            <p14:sldId id="1102"/>
            <p14:sldId id="1205"/>
            <p14:sldId id="1202"/>
            <p14:sldId id="1203"/>
            <p14:sldId id="1204"/>
            <p14:sldId id="1185"/>
            <p14:sldId id="1209"/>
            <p14:sldId id="1210"/>
            <p14:sldId id="1208"/>
            <p14:sldId id="1207"/>
            <p14:sldId id="1206"/>
            <p14:sldId id="119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лексей Малышев" initials="АМ" lastIdx="8" clrIdx="0">
    <p:extLst>
      <p:ext uri="{19B8F6BF-5375-455C-9EA6-DF929625EA0E}">
        <p15:presenceInfo xmlns:p15="http://schemas.microsoft.com/office/powerpoint/2012/main" userId="8ae9c15f625b32bb" providerId="Windows Live"/>
      </p:ext>
    </p:extLst>
  </p:cmAuthor>
  <p:cmAuthor id="2" name="OCTS" initials="O" lastIdx="1" clrIdx="1">
    <p:extLst>
      <p:ext uri="{19B8F6BF-5375-455C-9EA6-DF929625EA0E}">
        <p15:presenceInfo xmlns:p15="http://schemas.microsoft.com/office/powerpoint/2012/main" userId="OCTS" providerId="None"/>
      </p:ext>
    </p:extLst>
  </p:cmAuthor>
  <p:cmAuthor id="3" name="Kostylev Andrey" initials="KA" lastIdx="1" clrIdx="2">
    <p:extLst>
      <p:ext uri="{19B8F6BF-5375-455C-9EA6-DF929625EA0E}">
        <p15:presenceInfo xmlns:p15="http://schemas.microsoft.com/office/powerpoint/2012/main" userId="146efb04217a1102" providerId="Windows Live"/>
      </p:ext>
    </p:extLst>
  </p:cmAuthor>
  <p:cmAuthor id="4" name="Elizaveta Kostyleva" initials="EK" lastIdx="1" clrIdx="3">
    <p:extLst>
      <p:ext uri="{19B8F6BF-5375-455C-9EA6-DF929625EA0E}">
        <p15:presenceInfo xmlns:p15="http://schemas.microsoft.com/office/powerpoint/2012/main" userId="S::ekostyleva@lifevantage.com::e5a115f0-bdb1-48b8-969c-0a472e870de3" providerId="AD"/>
      </p:ext>
    </p:extLst>
  </p:cmAuthor>
  <p:cmAuthor id="5" name="ОЦТС" initials="О" lastIdx="2" clrIdx="4">
    <p:extLst>
      <p:ext uri="{19B8F6BF-5375-455C-9EA6-DF929625EA0E}">
        <p15:presenceInfo xmlns:p15="http://schemas.microsoft.com/office/powerpoint/2012/main" userId="ОЦТС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AAA"/>
    <a:srgbClr val="9D9D9D"/>
    <a:srgbClr val="FEFEFE"/>
    <a:srgbClr val="BFBFBF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0520" autoAdjust="0"/>
  </p:normalViewPr>
  <p:slideViewPr>
    <p:cSldViewPr snapToGrid="0" snapToObjects="1">
      <p:cViewPr varScale="1">
        <p:scale>
          <a:sx n="125" d="100"/>
          <a:sy n="125" d="100"/>
        </p:scale>
        <p:origin x="178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400" d="100"/>
        <a:sy n="400" d="100"/>
      </p:scale>
      <p:origin x="0" y="0"/>
    </p:cViewPr>
  </p:notesTextViewPr>
  <p:sorterViewPr>
    <p:cViewPr>
      <p:scale>
        <a:sx n="66" d="100"/>
        <a:sy n="66" d="100"/>
      </p:scale>
      <p:origin x="0" y="-7146"/>
    </p:cViewPr>
  </p:sorterViewPr>
  <p:notesViewPr>
    <p:cSldViewPr snapToGrid="0" snapToObjects="1">
      <p:cViewPr varScale="1">
        <p:scale>
          <a:sx n="85" d="100"/>
          <a:sy n="85" d="100"/>
        </p:scale>
        <p:origin x="380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5.fntdata"/><Relationship Id="rId3" Type="http://schemas.openxmlformats.org/officeDocument/2006/relationships/slideMaster" Target="slideMasters/slideMaster3.xml"/><Relationship Id="rId21" Type="http://schemas.openxmlformats.org/officeDocument/2006/relationships/handoutMaster" Target="handoutMasters/handoutMaster1.xml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4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3.fntdata"/><Relationship Id="rId32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A78F288-5E3C-4F81-AD43-7789565D29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2D620-2592-455C-9AF4-8E2D0C2F79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FFCE6C-E7E6-4C35-A8B5-8F9784AA6873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628E3-CFC5-471A-B6A2-9F949B2E81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586937-338C-4D39-8822-B1F000CF62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E77762-F59A-4FB1-90F9-50BE76F033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55885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D46D5B-6567-794D-8CBA-5CCA973D6774}" type="datetimeFigureOut">
              <a:rPr lang="ru-RU"/>
              <a:pPr/>
              <a:t>17.06.2025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EDE2F8-02D4-C448-B364-7246A6689E7F}" type="slidenum">
              <a:rPr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79344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741725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99486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37523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94774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0764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34306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3054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ая стран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76EB76-0898-4F71-9685-0F9BE4E1F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CD38B1-ACC6-416C-AF72-6F91347F95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4568243"/>
            <a:ext cx="6330950" cy="841155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3pPr marL="914400" indent="0">
              <a:buNone/>
              <a:defRPr/>
            </a:lvl3pPr>
          </a:lstStyle>
          <a:p>
            <a:pPr lvl="0"/>
            <a:r>
              <a:rPr lang="ru-RU" dirty="0"/>
              <a:t>Имя Фамилия 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0C140D7-ACA5-419A-846F-D1888293EF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52598" y="5993952"/>
            <a:ext cx="3488540" cy="387798"/>
          </a:xfrm>
        </p:spPr>
        <p:txBody>
          <a:bodyPr/>
          <a:lstStyle>
            <a:lvl2pPr>
              <a:defRPr/>
            </a:lvl2pPr>
            <a:lvl3pPr marL="914400" indent="0">
              <a:buNone/>
              <a:defRPr/>
            </a:lvl3pPr>
          </a:lstStyle>
          <a:p>
            <a:pPr lvl="1"/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2891415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один бл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748982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155870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65" userDrawn="1">
          <p15:clr>
            <a:srgbClr val="9FCC3B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два бло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518477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C75DE5C1-456E-4D90-87F0-D35E9FD23C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56364" y="1341437"/>
            <a:ext cx="518477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96248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две колонки в одном блок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11090275" cy="5040312"/>
          </a:xfrm>
        </p:spPr>
        <p:txBody>
          <a:bodyPr numCol="2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097472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1735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626875" y="5605171"/>
            <a:ext cx="1014262" cy="314912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88270A5-5B56-4CCE-84C6-4D75D2450723}"/>
              </a:ext>
            </a:extLst>
          </p:cNvPr>
          <p:cNvCxnSpPr>
            <a:cxnSpLocks/>
          </p:cNvCxnSpPr>
          <p:nvPr userDrawn="1"/>
        </p:nvCxnSpPr>
        <p:spPr>
          <a:xfrm>
            <a:off x="550863" y="6010277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2AFB8C0-5C8E-4D3D-ADF9-00059CE618CF}"/>
              </a:ext>
            </a:extLst>
          </p:cNvPr>
          <p:cNvSpPr txBox="1"/>
          <p:nvPr userDrawn="1"/>
        </p:nvSpPr>
        <p:spPr>
          <a:xfrm>
            <a:off x="9541404" y="6179006"/>
            <a:ext cx="209973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tx2"/>
                </a:solidFill>
              </a:rPr>
              <a:t>https://guap.ru</a:t>
            </a:r>
            <a:endParaRPr lang="ru-RU" sz="1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8771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741843" y="5605171"/>
            <a:ext cx="1014262" cy="314912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88270A5-5B56-4CCE-84C6-4D75D2450723}"/>
              </a:ext>
            </a:extLst>
          </p:cNvPr>
          <p:cNvCxnSpPr>
            <a:cxnSpLocks/>
          </p:cNvCxnSpPr>
          <p:nvPr userDrawn="1"/>
        </p:nvCxnSpPr>
        <p:spPr>
          <a:xfrm>
            <a:off x="550863" y="6010277"/>
            <a:ext cx="10205243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5385"/>
          <a:stretch/>
        </p:blipFill>
        <p:spPr>
          <a:xfrm>
            <a:off x="10776480" y="5500691"/>
            <a:ext cx="864658" cy="91387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676746" y="6179006"/>
            <a:ext cx="209973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tx2"/>
                </a:solidFill>
              </a:rPr>
              <a:t>https://guap.ru</a:t>
            </a:r>
            <a:endParaRPr lang="ru-RU" sz="1400" b="1" dirty="0">
              <a:solidFill>
                <a:schemeClr val="tx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A6AFA2-D81A-4798-AEC0-3F4A7A8C22AC}"/>
              </a:ext>
            </a:extLst>
          </p:cNvPr>
          <p:cNvSpPr txBox="1"/>
          <p:nvPr userDrawn="1"/>
        </p:nvSpPr>
        <p:spPr>
          <a:xfrm>
            <a:off x="571238" y="6179006"/>
            <a:ext cx="320506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dirty="0">
                <a:solidFill>
                  <a:schemeClr val="bg1">
                    <a:lumMod val="50000"/>
                  </a:schemeClr>
                </a:solidFill>
              </a:rPr>
              <a:t>© </a:t>
            </a:r>
            <a:r>
              <a:rPr lang="ru-RU" sz="1100" b="0" dirty="0">
                <a:solidFill>
                  <a:schemeClr val="bg1">
                    <a:lumMod val="50000"/>
                  </a:schemeClr>
                </a:solidFill>
              </a:rPr>
              <a:t>ГУАП, 2023</a:t>
            </a:r>
            <a:endParaRPr lang="ru-RU" sz="1400" b="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0039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3 - для выступлени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FFF08F3-1FC8-4409-A953-82A3AF7771C7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989994" y="1141883"/>
            <a:ext cx="2254761" cy="7000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5385"/>
          <a:stretch/>
        </p:blipFill>
        <p:spPr>
          <a:xfrm>
            <a:off x="10363289" y="949059"/>
            <a:ext cx="1303250" cy="13774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147402" y="1734228"/>
            <a:ext cx="2099734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marR="0" lvl="1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https://guap.ru</a:t>
            </a:r>
            <a:endParaRPr lang="ru-RU" sz="15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1509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4 - с контакт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FFF08F3-1FC8-4409-A953-82A3AF7771C7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989994" y="1141883"/>
            <a:ext cx="2254761" cy="7000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5385"/>
          <a:stretch/>
        </p:blipFill>
        <p:spPr>
          <a:xfrm>
            <a:off x="10363289" y="949059"/>
            <a:ext cx="1303250" cy="13774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147402" y="1734228"/>
            <a:ext cx="2099734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marR="0" lvl="1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https://guap.ru</a:t>
            </a:r>
            <a:endParaRPr lang="ru-RU" sz="15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FAF823-6E65-4BE2-B22A-CEAA3977E7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56363" y="3275544"/>
            <a:ext cx="5184775" cy="1997341"/>
          </a:xfrm>
        </p:spPr>
        <p:txBody>
          <a:bodyPr anchor="ctr" anchorCtr="0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</p:spTree>
    <p:extLst>
      <p:ext uri="{BB962C8B-B14F-4D97-AF65-F5344CB8AC3E}">
        <p14:creationId xmlns:p14="http://schemas.microsoft.com/office/powerpoint/2010/main" val="4001576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3309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7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9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A26B8BC-9AE2-41D8-8A90-8D1C0A2A55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5009951-9659-4924-B8D1-D9994BE1E4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 r="56155"/>
          <a:stretch/>
        </p:blipFill>
        <p:spPr>
          <a:xfrm>
            <a:off x="550865" y="304376"/>
            <a:ext cx="2827336" cy="109537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39E3CC-EBAD-4C68-8215-E3D1E3388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2509678"/>
            <a:ext cx="8051638" cy="1325563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220187D-590C-4FB1-A787-08B69F583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4568243"/>
            <a:ext cx="6234948" cy="100478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1624853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r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32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40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EFB9A11F-72FA-0A44-9653-48C9EEC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3DE3AE-88ED-4D7E-9545-2150C37B908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5CF6A84-AC35-45BE-AA65-F59DCCC45A75}"/>
              </a:ext>
            </a:extLst>
          </p:cNvPr>
          <p:cNvCxnSpPr>
            <a:cxnSpLocks/>
          </p:cNvCxnSpPr>
          <p:nvPr userDrawn="1"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3B768B2F-9C22-468C-B230-607F8CFF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Заголовок таблицы</a:t>
            </a:r>
          </a:p>
          <a:p>
            <a:pPr lvl="2"/>
            <a:r>
              <a:rPr lang="ru-RU" dirty="0"/>
              <a:t>Подпись рисунка</a:t>
            </a:r>
          </a:p>
          <a:p>
            <a:pPr lvl="3"/>
            <a:r>
              <a:rPr lang="ru-RU" dirty="0"/>
              <a:t>Текст</a:t>
            </a:r>
          </a:p>
          <a:p>
            <a:pPr lvl="4"/>
            <a:r>
              <a:rPr lang="ru-RU" dirty="0"/>
              <a:t>Выделенный текст</a:t>
            </a:r>
          </a:p>
          <a:p>
            <a:pPr lvl="5"/>
            <a:r>
              <a:rPr lang="ru-RU" dirty="0"/>
              <a:t>Маркеры</a:t>
            </a:r>
          </a:p>
          <a:p>
            <a:pPr lvl="6"/>
            <a:r>
              <a:rPr lang="ru-RU" dirty="0"/>
              <a:t>Нумерация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44A2A7-9511-4B2D-A046-C71363808B05}"/>
              </a:ext>
            </a:extLst>
          </p:cNvPr>
          <p:cNvSpPr txBox="1"/>
          <p:nvPr userDrawn="1"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4128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1" r:id="rId2"/>
    <p:sldLayoutId id="2147483759" r:id="rId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463" indent="-27146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845" userDrawn="1">
          <p15:clr>
            <a:srgbClr val="F26B43"/>
          </p15:clr>
        </p15:guide>
        <p15:guide id="2" pos="347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333">
          <p15:clr>
            <a:srgbClr val="F26B43"/>
          </p15:clr>
        </p15:guide>
        <p15:guide id="5" pos="3613" userDrawn="1">
          <p15:clr>
            <a:srgbClr val="F26B43"/>
          </p15:clr>
        </p15:guide>
        <p15:guide id="6" pos="406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EFB9A11F-72FA-0A44-9653-48C9EEC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3DE3AE-88ED-4D7E-9545-2150C37B908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5CF6A84-AC35-45BE-AA65-F59DCCC45A75}"/>
              </a:ext>
            </a:extLst>
          </p:cNvPr>
          <p:cNvCxnSpPr>
            <a:cxnSpLocks/>
          </p:cNvCxnSpPr>
          <p:nvPr userDrawn="1"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3B768B2F-9C22-468C-B230-607F8CFF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Заголовок таблицы</a:t>
            </a:r>
          </a:p>
          <a:p>
            <a:pPr lvl="2"/>
            <a:r>
              <a:rPr lang="ru-RU" dirty="0"/>
              <a:t>Подпись рисунка</a:t>
            </a:r>
          </a:p>
          <a:p>
            <a:pPr lvl="3"/>
            <a:r>
              <a:rPr lang="ru-RU" dirty="0"/>
              <a:t>Текст</a:t>
            </a:r>
          </a:p>
          <a:p>
            <a:pPr lvl="4"/>
            <a:r>
              <a:rPr lang="ru-RU" dirty="0"/>
              <a:t>Выделенный текст</a:t>
            </a:r>
          </a:p>
          <a:p>
            <a:pPr lvl="5"/>
            <a:r>
              <a:rPr lang="ru-RU" dirty="0"/>
              <a:t>Маркеры</a:t>
            </a:r>
          </a:p>
          <a:p>
            <a:pPr lvl="6"/>
            <a:r>
              <a:rPr lang="ru-RU" dirty="0"/>
              <a:t>Нумерация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14C9C7-3F3B-4FAE-B19C-B28F0A67B7F7}"/>
              </a:ext>
            </a:extLst>
          </p:cNvPr>
          <p:cNvSpPr txBox="1"/>
          <p:nvPr userDrawn="1"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6249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6" r:id="rId2"/>
    <p:sldLayoutId id="2147483847" r:id="rId3"/>
    <p:sldLayoutId id="2147483849" r:id="rId4"/>
    <p:sldLayoutId id="2147483850" r:id="rId5"/>
    <p:sldLayoutId id="2147483843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463" indent="-27146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845" userDrawn="1">
          <p15:clr>
            <a:srgbClr val="F26B43"/>
          </p15:clr>
        </p15:guide>
        <p15:guide id="2" pos="347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333">
          <p15:clr>
            <a:srgbClr val="F26B43"/>
          </p15:clr>
        </p15:guide>
        <p15:guide id="5" pos="4067" userDrawn="1">
          <p15:clr>
            <a:srgbClr val="F26B43"/>
          </p15:clr>
        </p15:guide>
        <p15:guide id="6" pos="361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A5BC97-99E1-4827-A5AA-5E9EBED1B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1511807"/>
            <a:ext cx="8922320" cy="2008151"/>
          </a:xfrm>
        </p:spPr>
        <p:txBody>
          <a:bodyPr>
            <a:normAutofit fontScale="90000"/>
          </a:bodyPr>
          <a:lstStyle/>
          <a:p>
            <a:r>
              <a:rPr lang="ru-RU" dirty="0"/>
              <a:t>Разработка веб-интерфейса для отображения взаимодействия настроек на </a:t>
            </a:r>
            <a:r>
              <a:rPr lang="ru-RU" dirty="0" smtClean="0"/>
              <a:t>3D </a:t>
            </a:r>
            <a:r>
              <a:rPr lang="ru-RU" dirty="0"/>
              <a:t>визуализацию цифрового телеуправляемого рентгеновского аппарата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EA8D34-BBBA-48A9-9B83-130C3E8DC9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4" y="3915799"/>
            <a:ext cx="5380544" cy="1338953"/>
          </a:xfrm>
        </p:spPr>
        <p:txBody>
          <a:bodyPr>
            <a:normAutofit lnSpcReduction="10000"/>
          </a:bodyPr>
          <a:lstStyle/>
          <a:p>
            <a:r>
              <a:rPr lang="ru-RU" dirty="0" smtClean="0"/>
              <a:t>Выполнил</a:t>
            </a:r>
            <a:r>
              <a:rPr lang="en-US" dirty="0" smtClean="0"/>
              <a:t>:</a:t>
            </a:r>
            <a:r>
              <a:rPr lang="ru-RU" dirty="0" smtClean="0"/>
              <a:t> студент группы </a:t>
            </a:r>
            <a:r>
              <a:rPr lang="en-US" dirty="0" smtClean="0"/>
              <a:t>4142</a:t>
            </a:r>
            <a:r>
              <a:rPr lang="ru-RU" dirty="0" smtClean="0"/>
              <a:t>,</a:t>
            </a:r>
          </a:p>
          <a:p>
            <a:r>
              <a:rPr lang="ru-RU" dirty="0" smtClean="0"/>
              <a:t>Никифоров Никита Сергеевич</a:t>
            </a:r>
            <a:endParaRPr lang="ru-RU" dirty="0"/>
          </a:p>
          <a:p>
            <a:endParaRPr lang="ru-RU" dirty="0" smtClean="0"/>
          </a:p>
          <a:p>
            <a:r>
              <a:rPr lang="ru-RU" dirty="0" smtClean="0"/>
              <a:t>Научный руководитель</a:t>
            </a:r>
            <a:r>
              <a:rPr lang="en-US" dirty="0" smtClean="0"/>
              <a:t>:</a:t>
            </a:r>
            <a:r>
              <a:rPr lang="ru-RU" dirty="0"/>
              <a:t> канд. </a:t>
            </a:r>
            <a:r>
              <a:rPr lang="ru-RU" dirty="0" err="1"/>
              <a:t>техн</a:t>
            </a:r>
            <a:r>
              <a:rPr lang="ru-RU" dirty="0"/>
              <a:t>. наук, </a:t>
            </a:r>
            <a:r>
              <a:rPr lang="ru-RU" dirty="0" smtClean="0"/>
              <a:t>доцент,</a:t>
            </a:r>
            <a:endParaRPr lang="ru-RU" dirty="0"/>
          </a:p>
          <a:p>
            <a:r>
              <a:rPr lang="ru-RU" dirty="0" smtClean="0"/>
              <a:t>Решетникова Нина Николаевна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C26AC53-244B-4289-B3B5-D31C1BFD52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20000"/>
          </a:bodyPr>
          <a:lstStyle/>
          <a:p>
            <a:pPr lvl="1"/>
            <a:r>
              <a:rPr lang="ru-RU" dirty="0"/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2705815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Цель</a:t>
            </a:r>
            <a:r>
              <a:rPr lang="en-US" dirty="0" smtClean="0"/>
              <a:t> </a:t>
            </a:r>
            <a:r>
              <a:rPr lang="ru-RU" dirty="0" smtClean="0"/>
              <a:t>работы и решаемые задачи</a:t>
            </a:r>
            <a:endParaRPr lang="ru-RU" dirty="0"/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993A51E0-594E-4829-B37D-2694C1C3ED60}"/>
              </a:ext>
            </a:extLst>
          </p:cNvPr>
          <p:cNvSpPr txBox="1">
            <a:spLocks/>
          </p:cNvSpPr>
          <p:nvPr/>
        </p:nvSpPr>
        <p:spPr>
          <a:xfrm>
            <a:off x="6456362" y="4065973"/>
            <a:ext cx="5184775" cy="2315777"/>
          </a:xfrm>
          <a:prstGeom prst="rect">
            <a:avLst/>
          </a:prstGeom>
        </p:spPr>
        <p:txBody>
          <a:bodyPr vert="horz" lIns="0" tIns="0" rIns="0" bIns="0" numCol="1" spcCol="72000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100"/>
              </a:spcAft>
              <a:buFont typeface="Arial" panose="020B0604020202020204" pitchFamily="34" charset="0"/>
              <a:buNone/>
              <a:defRPr sz="14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1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1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1463" indent="-271463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100"/>
              </a:spcAft>
              <a:buFont typeface="Wingdings" panose="05000000000000000000" pitchFamily="2" charset="2"/>
              <a:buChar char="§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1463" indent="-271463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100"/>
              </a:spcAft>
              <a:buFont typeface="+mj-lt"/>
              <a:buAutoNum type="arabicPeriod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5"/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1F1301-B7F1-4E7C-A520-ECE432D3D4D6}"/>
              </a:ext>
            </a:extLst>
          </p:cNvPr>
          <p:cNvSpPr txBox="1"/>
          <p:nvPr/>
        </p:nvSpPr>
        <p:spPr>
          <a:xfrm>
            <a:off x="550863" y="1331724"/>
            <a:ext cx="11135001" cy="5158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Цель </a:t>
            </a:r>
            <a:r>
              <a:rPr lang="ru-RU" i="1" dirty="0" smtClean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работы</a:t>
            </a:r>
            <a:r>
              <a:rPr lang="en-US" i="1" dirty="0" smtClean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ru-RU" dirty="0"/>
              <a:t>—</a:t>
            </a:r>
            <a:r>
              <a:rPr lang="en-US" i="1" dirty="0" smtClean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ru-RU" dirty="0"/>
              <a:t>Разработка веб-интерфейса для отображения </a:t>
            </a:r>
            <a:r>
              <a:rPr lang="ru-RU" dirty="0" smtClean="0"/>
              <a:t>взаимодействия</a:t>
            </a:r>
            <a:r>
              <a:rPr lang="en-US" dirty="0" smtClean="0"/>
              <a:t> </a:t>
            </a:r>
            <a:r>
              <a:rPr lang="ru-RU" dirty="0"/>
              <a:t>настроек на 3D визуализацию цифрового телеуправляемого рентгеновского </a:t>
            </a:r>
            <a:r>
              <a:rPr lang="ru-RU" dirty="0" smtClean="0"/>
              <a:t>аппарата</a:t>
            </a:r>
          </a:p>
          <a:p>
            <a:pPr algn="just"/>
            <a:endParaRPr lang="en-US" dirty="0" smtClean="0"/>
          </a:p>
          <a:p>
            <a:pPr algn="just"/>
            <a:r>
              <a:rPr lang="ru-RU" i="1" dirty="0" smtClean="0">
                <a:solidFill>
                  <a:srgbClr val="005AA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Для достижения цели потребовалось решить следующие задачи</a:t>
            </a:r>
            <a:r>
              <a:rPr lang="en-US" i="1" dirty="0" smtClean="0">
                <a:solidFill>
                  <a:srgbClr val="005AA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:</a:t>
            </a:r>
            <a:endParaRPr lang="ru-RU" i="1" dirty="0" smtClean="0">
              <a:solidFill>
                <a:srgbClr val="005AA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285750" lvl="5" indent="-285750">
              <a:lnSpc>
                <a:spcPct val="130000"/>
              </a:lnSpc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ru-RU" sz="1600" dirty="0"/>
              <a:t>Провести анализ предметной области</a:t>
            </a:r>
          </a:p>
          <a:p>
            <a:pPr marL="285750" lvl="5" indent="-285750">
              <a:lnSpc>
                <a:spcPct val="130000"/>
              </a:lnSpc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ru-RU" sz="1600" dirty="0"/>
              <a:t>Выбрать программные средства реализации</a:t>
            </a:r>
          </a:p>
          <a:p>
            <a:pPr marL="285750" lvl="5" indent="-285750">
              <a:lnSpc>
                <a:spcPct val="130000"/>
              </a:lnSpc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ru-RU" sz="1600" dirty="0"/>
              <a:t>Создать реалистичную 3</a:t>
            </a:r>
            <a:r>
              <a:rPr lang="en-US" sz="1600" dirty="0"/>
              <a:t>D</a:t>
            </a:r>
            <a:r>
              <a:rPr lang="ru-RU" sz="1600" dirty="0"/>
              <a:t> </a:t>
            </a:r>
            <a:r>
              <a:rPr lang="ru-RU" sz="1600" dirty="0" smtClean="0"/>
              <a:t>модель телеуправляемого рентгеновского аппарата</a:t>
            </a:r>
            <a:endParaRPr lang="ru-RU" sz="1600" dirty="0"/>
          </a:p>
          <a:p>
            <a:pPr marL="285750" lvl="5" indent="-285750">
              <a:lnSpc>
                <a:spcPct val="130000"/>
              </a:lnSpc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ru-RU" sz="1600" dirty="0"/>
              <a:t>Создать пользовательский интерфейс для </a:t>
            </a:r>
            <a:r>
              <a:rPr lang="ru-RU" sz="1600" dirty="0" smtClean="0"/>
              <a:t>взаимодействия 3</a:t>
            </a:r>
            <a:r>
              <a:rPr lang="en-US" sz="1600" dirty="0" smtClean="0"/>
              <a:t>D</a:t>
            </a:r>
            <a:r>
              <a:rPr lang="ru-RU" sz="1600" dirty="0" smtClean="0"/>
              <a:t> моделью </a:t>
            </a:r>
            <a:r>
              <a:rPr lang="ru-RU" sz="1600" dirty="0"/>
              <a:t>телеуправляемого рентгеновского аппарата</a:t>
            </a:r>
          </a:p>
          <a:p>
            <a:pPr marL="285750" lvl="5" indent="-285750">
              <a:lnSpc>
                <a:spcPct val="130000"/>
              </a:lnSpc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ru-RU" sz="1600" dirty="0"/>
              <a:t>Создать </a:t>
            </a:r>
            <a:r>
              <a:rPr lang="ru-RU" sz="1600" dirty="0" smtClean="0"/>
              <a:t>способы настроек взаимодействия </a:t>
            </a:r>
            <a:r>
              <a:rPr lang="ru-RU" sz="1600" dirty="0"/>
              <a:t>с </a:t>
            </a:r>
            <a:r>
              <a:rPr lang="ru-RU" sz="1600" dirty="0" smtClean="0"/>
              <a:t>аппаратом</a:t>
            </a:r>
            <a:endParaRPr lang="ru-RU" sz="1600" dirty="0"/>
          </a:p>
          <a:p>
            <a:pPr marL="285750" lvl="5" indent="-285750">
              <a:lnSpc>
                <a:spcPct val="130000"/>
              </a:lnSpc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ru-RU" sz="1600" dirty="0"/>
              <a:t>Создать базу данных для хранения 3</a:t>
            </a:r>
            <a:r>
              <a:rPr lang="en-US" sz="1600" dirty="0"/>
              <a:t>D </a:t>
            </a:r>
            <a:r>
              <a:rPr lang="ru-RU" sz="1600" dirty="0"/>
              <a:t>моделей</a:t>
            </a:r>
            <a:endParaRPr lang="en-US" sz="1600" dirty="0"/>
          </a:p>
          <a:p>
            <a:pPr marL="285750" lvl="5" indent="-285750">
              <a:lnSpc>
                <a:spcPct val="130000"/>
              </a:lnSpc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ru-RU" sz="1600" dirty="0"/>
              <a:t>Создать сервер эмулятор рентгеновского аппарата</a:t>
            </a:r>
          </a:p>
          <a:p>
            <a:pPr marL="285750" lvl="5" indent="-285750">
              <a:lnSpc>
                <a:spcPct val="130000"/>
              </a:lnSpc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ru-RU" sz="1600" dirty="0"/>
              <a:t>Проверить работоспособность созданного приложения</a:t>
            </a:r>
          </a:p>
        </p:txBody>
      </p:sp>
    </p:spTree>
    <p:extLst>
      <p:ext uri="{BB962C8B-B14F-4D97-AF65-F5344CB8AC3E}">
        <p14:creationId xmlns:p14="http://schemas.microsoft.com/office/powerpoint/2010/main" val="54731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Актуальность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pPr algn="just"/>
            <a:r>
              <a:rPr lang="ru-RU" sz="1800" dirty="0">
                <a:solidFill>
                  <a:schemeClr val="tx1"/>
                </a:solidFill>
              </a:rPr>
              <a:t>В современном мире цифровые технологии прочно интегрированы в нашу повседневную жизнь. Веб-приложения становятся инструментом для решения задач в разных областях. Особое место занимают приложения с интерактивными 3D-моделями, которые позволяют пользователям визуализировать сложные объекты и взаимодействовать с ними через сетевое соединение. Такие решения находят применение в медицине, образовании, промышленности и научных исследованиях, обеспечивая новые возможности для обучения, демонстрации и управления оборудованием. В связи с этим разработка веб-приложений с использованием 3D элементов становится актуальной задачей.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pPr algn="just">
              <a:lnSpc>
                <a:spcPct val="120000"/>
              </a:lnSpc>
            </a:pPr>
            <a:r>
              <a:rPr lang="ru-RU" sz="2300" i="1" dirty="0">
                <a:solidFill>
                  <a:srgbClr val="005AAA"/>
                </a:solidFill>
                <a:ea typeface="roboto" panose="02000000000000000000" pitchFamily="2" charset="0"/>
              </a:rPr>
              <a:t>Социальная и научная значимость:</a:t>
            </a:r>
          </a:p>
          <a:p>
            <a:pPr lvl="5">
              <a:lnSpc>
                <a:spcPct val="120000"/>
              </a:lnSpc>
            </a:pPr>
            <a:r>
              <a:rPr lang="ru-RU" sz="2000" dirty="0"/>
              <a:t>Безопасное дистанционное управление медицинским оборудованием.</a:t>
            </a:r>
          </a:p>
          <a:p>
            <a:pPr lvl="5">
              <a:lnSpc>
                <a:spcPct val="120000"/>
              </a:lnSpc>
            </a:pPr>
            <a:r>
              <a:rPr lang="ru-RU" sz="2000" dirty="0"/>
              <a:t>Упрощение подготовки медперсонала и демонстрации оборудования.</a:t>
            </a:r>
          </a:p>
          <a:p>
            <a:pPr algn="just">
              <a:lnSpc>
                <a:spcPct val="120000"/>
              </a:lnSpc>
            </a:pPr>
            <a:r>
              <a:rPr lang="ru-RU" sz="2300" i="1" dirty="0">
                <a:solidFill>
                  <a:srgbClr val="005AAA"/>
                </a:solidFill>
                <a:ea typeface="roboto" panose="02000000000000000000" pitchFamily="2" charset="0"/>
              </a:rPr>
              <a:t>Современные тенденции:</a:t>
            </a:r>
          </a:p>
          <a:p>
            <a:pPr lvl="5">
              <a:lnSpc>
                <a:spcPct val="120000"/>
              </a:lnSpc>
            </a:pPr>
            <a:r>
              <a:rPr lang="ru-RU" sz="2000" dirty="0"/>
              <a:t>Интеграция </a:t>
            </a:r>
            <a:r>
              <a:rPr lang="ru-RU" sz="2000" dirty="0" err="1"/>
              <a:t>WebGL</a:t>
            </a:r>
            <a:r>
              <a:rPr lang="ru-RU" sz="2000" dirty="0"/>
              <a:t>, Three.js, </a:t>
            </a:r>
            <a:r>
              <a:rPr lang="ru-RU" sz="2000" dirty="0" err="1"/>
              <a:t>React</a:t>
            </a:r>
            <a:r>
              <a:rPr lang="ru-RU" sz="2000" dirty="0"/>
              <a:t> в медицинскую и образовательную сферы.</a:t>
            </a:r>
          </a:p>
          <a:p>
            <a:pPr lvl="5">
              <a:lnSpc>
                <a:spcPct val="120000"/>
              </a:lnSpc>
            </a:pPr>
            <a:r>
              <a:rPr lang="ru-RU" sz="2000" dirty="0"/>
              <a:t>Технологии реального времени (Socket.IO) для интерактивных систем.</a:t>
            </a:r>
          </a:p>
          <a:p>
            <a:pPr algn="just">
              <a:lnSpc>
                <a:spcPct val="120000"/>
              </a:lnSpc>
            </a:pPr>
            <a:r>
              <a:rPr lang="ru-RU" sz="2300" i="1" dirty="0">
                <a:solidFill>
                  <a:srgbClr val="005AAA"/>
                </a:solidFill>
                <a:ea typeface="roboto" panose="02000000000000000000" pitchFamily="2" charset="0"/>
              </a:rPr>
              <a:t>Целевые группы:</a:t>
            </a:r>
          </a:p>
          <a:p>
            <a:pPr lvl="5">
              <a:lnSpc>
                <a:spcPct val="120000"/>
              </a:lnSpc>
            </a:pPr>
            <a:r>
              <a:rPr lang="ru-RU" sz="2000" dirty="0"/>
              <a:t>Медицинские учреждения.</a:t>
            </a:r>
          </a:p>
          <a:p>
            <a:pPr lvl="5">
              <a:lnSpc>
                <a:spcPct val="120000"/>
              </a:lnSpc>
            </a:pPr>
            <a:r>
              <a:rPr lang="ru-RU" sz="2000" dirty="0"/>
              <a:t>Образовательные центры.</a:t>
            </a:r>
          </a:p>
          <a:p>
            <a:pPr lvl="5">
              <a:lnSpc>
                <a:spcPct val="120000"/>
              </a:lnSpc>
            </a:pPr>
            <a:r>
              <a:rPr lang="ru-RU" sz="2000" dirty="0"/>
              <a:t>Производители рентгеновского оборудования.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2665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Выбранный стек технологий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715" y="1204367"/>
            <a:ext cx="736400" cy="7364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162" y="1207451"/>
            <a:ext cx="2743424" cy="736400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634" y="1204367"/>
            <a:ext cx="736400" cy="736400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4524" y="1206000"/>
            <a:ext cx="738000" cy="738000"/>
          </a:xfrm>
          <a:prstGeom prst="rect">
            <a:avLst/>
          </a:prstGeom>
        </p:spPr>
      </p:pic>
      <p:pic>
        <p:nvPicPr>
          <p:cNvPr id="4120" name="Picture 24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7014" y="1207451"/>
            <a:ext cx="739233" cy="739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9227" y="2139464"/>
            <a:ext cx="738000" cy="738000"/>
          </a:xfrm>
          <a:prstGeom prst="rect">
            <a:avLst/>
          </a:prstGeom>
        </p:spPr>
      </p:pic>
      <p:pic>
        <p:nvPicPr>
          <p:cNvPr id="4122" name="Picture 26" descr="Файл:Expressjs.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4357" y="1207451"/>
            <a:ext cx="2433828" cy="73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4" name="Picture 28" descr="Файл:SQLite370.sv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5317" y="1207451"/>
            <a:ext cx="1557546" cy="73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6" name="Picture 30" descr="File:GlTF logo.sv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9452" y="2139464"/>
            <a:ext cx="1409911" cy="73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4856" y="2139464"/>
            <a:ext cx="838878" cy="738000"/>
          </a:xfrm>
          <a:prstGeom prst="rect">
            <a:avLst/>
          </a:prstGeom>
        </p:spPr>
      </p:pic>
      <p:pic>
        <p:nvPicPr>
          <p:cNvPr id="4130" name="Picture 34" descr="Файл:Redux Logo.pn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2524" y="2139464"/>
            <a:ext cx="2771830" cy="73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 37"/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550863" y="3124217"/>
            <a:ext cx="11086306" cy="3605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2" anchor="ctr" anchorCtr="0" compatLnSpc="1">
            <a:prstTxWarp prst="textNoShape">
              <a:avLst/>
            </a:prstTxWarp>
            <a:spAutoFit/>
          </a:bodyPr>
          <a:lstStyle/>
          <a:p>
            <a:pPr marR="0" lvl="5" fontAlgn="base">
              <a:lnSpc>
                <a:spcPct val="100000"/>
              </a:lnSpc>
              <a:buSzTx/>
              <a:tabLst/>
            </a:pPr>
            <a:r>
              <a:rPr lang="ru-RU" altLang="ru-RU" b="1" dirty="0" err="1"/>
              <a:t>TypeScript</a:t>
            </a:r>
            <a:r>
              <a:rPr lang="ru-RU" altLang="ru-RU" b="1" dirty="0"/>
              <a:t>: </a:t>
            </a:r>
            <a:r>
              <a:rPr lang="ru-RU" altLang="ru-RU" dirty="0"/>
              <a:t>Строгая типизация для масштабируемого кода. </a:t>
            </a:r>
          </a:p>
          <a:p>
            <a:pPr marR="0" lvl="5" fontAlgn="base">
              <a:lnSpc>
                <a:spcPct val="100000"/>
              </a:lnSpc>
              <a:buSzTx/>
              <a:tabLst/>
            </a:pPr>
            <a:r>
              <a:rPr lang="ru-RU" altLang="ru-RU" b="1" dirty="0" err="1"/>
              <a:t>Blender</a:t>
            </a:r>
            <a:r>
              <a:rPr lang="ru-RU" altLang="ru-RU" b="1" dirty="0"/>
              <a:t>: </a:t>
            </a:r>
            <a:r>
              <a:rPr lang="ru-RU" altLang="ru-RU" dirty="0"/>
              <a:t>Создание и экспорт 3D-моделей в </a:t>
            </a:r>
            <a:r>
              <a:rPr lang="ru-RU" altLang="ru-RU" dirty="0" err="1"/>
              <a:t>glTF</a:t>
            </a:r>
            <a:r>
              <a:rPr lang="ru-RU" altLang="ru-RU" dirty="0"/>
              <a:t>. </a:t>
            </a:r>
          </a:p>
          <a:p>
            <a:pPr marR="0" lvl="5" fontAlgn="base">
              <a:lnSpc>
                <a:spcPct val="100000"/>
              </a:lnSpc>
              <a:buSzTx/>
              <a:tabLst/>
            </a:pPr>
            <a:r>
              <a:rPr lang="ru-RU" altLang="ru-RU" b="1" dirty="0"/>
              <a:t>Three.js: </a:t>
            </a:r>
            <a:r>
              <a:rPr lang="ru-RU" altLang="ru-RU" dirty="0"/>
              <a:t>Рендеринг интерактивной 3D-графики в браузере. </a:t>
            </a:r>
          </a:p>
          <a:p>
            <a:pPr marR="0" lvl="5" fontAlgn="base">
              <a:lnSpc>
                <a:spcPct val="100000"/>
              </a:lnSpc>
              <a:buSzTx/>
              <a:tabLst/>
            </a:pPr>
            <a:r>
              <a:rPr lang="ru-RU" altLang="ru-RU" b="1" dirty="0"/>
              <a:t>Socket.IO: </a:t>
            </a:r>
            <a:r>
              <a:rPr lang="ru-RU" altLang="ru-RU" dirty="0"/>
              <a:t>Б</a:t>
            </a:r>
            <a:r>
              <a:rPr lang="ru-RU" dirty="0" smtClean="0"/>
              <a:t>иблиотека </a:t>
            </a:r>
            <a:r>
              <a:rPr lang="ru-RU" dirty="0"/>
              <a:t>для веб-приложений и обмена данными в реальном времени</a:t>
            </a:r>
            <a:r>
              <a:rPr lang="ru-RU" altLang="ru-RU" dirty="0" smtClean="0"/>
              <a:t>. </a:t>
            </a:r>
            <a:endParaRPr lang="ru-RU" altLang="ru-RU" dirty="0"/>
          </a:p>
          <a:p>
            <a:pPr marR="0" lvl="5" fontAlgn="base">
              <a:lnSpc>
                <a:spcPct val="100000"/>
              </a:lnSpc>
              <a:buSzTx/>
              <a:tabLst/>
            </a:pPr>
            <a:r>
              <a:rPr lang="ru-RU" altLang="ru-RU" b="1" dirty="0" err="1"/>
              <a:t>React</a:t>
            </a:r>
            <a:r>
              <a:rPr lang="ru-RU" altLang="ru-RU" b="1" dirty="0"/>
              <a:t>: </a:t>
            </a:r>
            <a:r>
              <a:rPr lang="ru-RU" altLang="ru-RU" dirty="0"/>
              <a:t>Компонентный интерфейс для динамичного UI. </a:t>
            </a:r>
          </a:p>
          <a:p>
            <a:pPr marR="0" lvl="5" fontAlgn="base">
              <a:lnSpc>
                <a:spcPct val="100000"/>
              </a:lnSpc>
              <a:buSzTx/>
              <a:tabLst/>
            </a:pPr>
            <a:r>
              <a:rPr lang="ru-RU" altLang="ru-RU" b="1" dirty="0" err="1"/>
              <a:t>Express</a:t>
            </a:r>
            <a:r>
              <a:rPr lang="ru-RU" altLang="ru-RU" b="1" dirty="0"/>
              <a:t>: </a:t>
            </a:r>
            <a:r>
              <a:rPr lang="ru-RU" altLang="ru-RU" dirty="0"/>
              <a:t>Фреймворк для REST API и серверной логики. </a:t>
            </a:r>
          </a:p>
          <a:p>
            <a:pPr marR="0" lvl="5" fontAlgn="base">
              <a:lnSpc>
                <a:spcPct val="100000"/>
              </a:lnSpc>
              <a:buSzTx/>
              <a:tabLst/>
            </a:pPr>
            <a:r>
              <a:rPr lang="ru-RU" altLang="ru-RU" b="1" dirty="0" err="1"/>
              <a:t>SQLite</a:t>
            </a:r>
            <a:r>
              <a:rPr lang="ru-RU" altLang="ru-RU" b="1" dirty="0"/>
              <a:t>: </a:t>
            </a:r>
            <a:r>
              <a:rPr lang="ru-RU" altLang="ru-RU" dirty="0"/>
              <a:t>Легковесная БД для хранения моделей и настроек. </a:t>
            </a:r>
          </a:p>
          <a:p>
            <a:pPr marR="0" lvl="5" fontAlgn="base">
              <a:lnSpc>
                <a:spcPct val="100000"/>
              </a:lnSpc>
              <a:buSzTx/>
              <a:tabLst/>
            </a:pPr>
            <a:r>
              <a:rPr lang="ru-RU" altLang="ru-RU" b="1" dirty="0" err="1"/>
              <a:t>glTF</a:t>
            </a:r>
            <a:r>
              <a:rPr lang="ru-RU" altLang="ru-RU" b="1" dirty="0"/>
              <a:t>: </a:t>
            </a:r>
            <a:r>
              <a:rPr lang="ru-RU" altLang="ru-RU" dirty="0"/>
              <a:t>Компактный формат 3D-моделей для веб-приложений. </a:t>
            </a:r>
          </a:p>
          <a:p>
            <a:pPr marR="0" lvl="5" fontAlgn="base">
              <a:lnSpc>
                <a:spcPct val="100000"/>
              </a:lnSpc>
              <a:buSzTx/>
              <a:tabLst/>
            </a:pPr>
            <a:r>
              <a:rPr lang="ru-RU" altLang="ru-RU" b="1" dirty="0"/>
              <a:t>Bun.js: </a:t>
            </a:r>
            <a:r>
              <a:rPr lang="ru-RU" altLang="ru-RU" dirty="0" smtClean="0"/>
              <a:t>Среда выполнения </a:t>
            </a:r>
            <a:r>
              <a:rPr lang="en-US" altLang="ru-RU" dirty="0" smtClean="0"/>
              <a:t>JavaScript </a:t>
            </a:r>
            <a:r>
              <a:rPr lang="ru-RU" altLang="ru-RU" dirty="0" smtClean="0"/>
              <a:t>и </a:t>
            </a:r>
            <a:r>
              <a:rPr lang="en-US" altLang="ru-RU" dirty="0" err="1" smtClean="0"/>
              <a:t>TypeScript</a:t>
            </a:r>
            <a:endParaRPr lang="ru-RU" altLang="ru-RU" dirty="0"/>
          </a:p>
          <a:p>
            <a:pPr marR="0" lvl="5" fontAlgn="base">
              <a:lnSpc>
                <a:spcPct val="100000"/>
              </a:lnSpc>
              <a:buSzTx/>
              <a:tabLst/>
            </a:pPr>
            <a:r>
              <a:rPr lang="ru-RU" altLang="ru-RU" b="1" dirty="0" err="1"/>
              <a:t>Vite</a:t>
            </a:r>
            <a:r>
              <a:rPr lang="ru-RU" altLang="ru-RU" b="1" dirty="0"/>
              <a:t>: </a:t>
            </a:r>
            <a:r>
              <a:rPr lang="ru-RU" altLang="ru-RU" dirty="0"/>
              <a:t>Быстрая сборка и горячая перезагрузка </a:t>
            </a:r>
            <a:r>
              <a:rPr lang="ru-RU" altLang="ru-RU" dirty="0" err="1"/>
              <a:t>фронтенда</a:t>
            </a:r>
            <a:r>
              <a:rPr lang="ru-RU" altLang="ru-RU" dirty="0"/>
              <a:t>. </a:t>
            </a:r>
          </a:p>
          <a:p>
            <a:pPr marR="0" lvl="5" fontAlgn="base">
              <a:lnSpc>
                <a:spcPct val="100000"/>
              </a:lnSpc>
              <a:buSzTx/>
              <a:tabLst/>
            </a:pPr>
            <a:r>
              <a:rPr lang="ru-RU" altLang="ru-RU" b="1" dirty="0" err="1"/>
              <a:t>Redux</a:t>
            </a:r>
            <a:r>
              <a:rPr lang="ru-RU" altLang="ru-RU" b="1" dirty="0"/>
              <a:t>: </a:t>
            </a:r>
            <a:r>
              <a:rPr lang="ru-RU" altLang="ru-RU" dirty="0"/>
              <a:t>Управление состоянием приложения. </a:t>
            </a:r>
          </a:p>
        </p:txBody>
      </p:sp>
    </p:spTree>
    <p:extLst>
      <p:ext uri="{BB962C8B-B14F-4D97-AF65-F5344CB8AC3E}">
        <p14:creationId xmlns:p14="http://schemas.microsoft.com/office/powerpoint/2010/main" val="2645219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Создание 3</a:t>
            </a:r>
            <a:r>
              <a:rPr lang="en-US" dirty="0" smtClean="0"/>
              <a:t>D </a:t>
            </a:r>
            <a:r>
              <a:rPr lang="ru-RU" dirty="0" smtClean="0"/>
              <a:t>модели</a:t>
            </a:r>
            <a:endParaRPr lang="ru-RU" dirty="0"/>
          </a:p>
        </p:txBody>
      </p:sp>
      <p:pic>
        <p:nvPicPr>
          <p:cNvPr id="10" name="Рисунок 9"/>
          <p:cNvPicPr/>
          <p:nvPr/>
        </p:nvPicPr>
        <p:blipFill>
          <a:blip r:embed="rId3"/>
          <a:stretch>
            <a:fillRect/>
          </a:stretch>
        </p:blipFill>
        <p:spPr>
          <a:xfrm>
            <a:off x="636060" y="2773680"/>
            <a:ext cx="1494472" cy="2064385"/>
          </a:xfrm>
          <a:prstGeom prst="rect">
            <a:avLst/>
          </a:prstGeom>
        </p:spPr>
      </p:pic>
      <p:pic>
        <p:nvPicPr>
          <p:cNvPr id="11" name="Рисунок 10"/>
          <p:cNvPicPr/>
          <p:nvPr/>
        </p:nvPicPr>
        <p:blipFill>
          <a:blip r:embed="rId4"/>
          <a:stretch>
            <a:fillRect/>
          </a:stretch>
        </p:blipFill>
        <p:spPr>
          <a:xfrm>
            <a:off x="2363470" y="3463586"/>
            <a:ext cx="2298700" cy="1171166"/>
          </a:xfrm>
          <a:prstGeom prst="rect">
            <a:avLst/>
          </a:prstGeom>
        </p:spPr>
      </p:pic>
      <p:pic>
        <p:nvPicPr>
          <p:cNvPr id="12" name="Рисунок 11"/>
          <p:cNvPicPr/>
          <p:nvPr/>
        </p:nvPicPr>
        <p:blipFill>
          <a:blip r:embed="rId5"/>
          <a:stretch>
            <a:fillRect/>
          </a:stretch>
        </p:blipFill>
        <p:spPr>
          <a:xfrm>
            <a:off x="488049" y="1615440"/>
            <a:ext cx="1875421" cy="869689"/>
          </a:xfrm>
          <a:prstGeom prst="rect">
            <a:avLst/>
          </a:prstGeom>
        </p:spPr>
      </p:pic>
      <p:pic>
        <p:nvPicPr>
          <p:cNvPr id="13" name="Рисунок 12"/>
          <p:cNvPicPr/>
          <p:nvPr/>
        </p:nvPicPr>
        <p:blipFill>
          <a:blip r:embed="rId6"/>
          <a:stretch>
            <a:fillRect/>
          </a:stretch>
        </p:blipFill>
        <p:spPr>
          <a:xfrm>
            <a:off x="2722614" y="1615440"/>
            <a:ext cx="1876742" cy="1522108"/>
          </a:xfrm>
          <a:prstGeom prst="rect">
            <a:avLst/>
          </a:prstGeom>
        </p:spPr>
      </p:pic>
      <p:pic>
        <p:nvPicPr>
          <p:cNvPr id="14" name="Рисунок 13"/>
          <p:cNvPicPr/>
          <p:nvPr/>
        </p:nvPicPr>
        <p:blipFill>
          <a:blip r:embed="rId7"/>
          <a:stretch>
            <a:fillRect/>
          </a:stretch>
        </p:blipFill>
        <p:spPr>
          <a:xfrm rot="16200000">
            <a:off x="2292316" y="4228059"/>
            <a:ext cx="860596" cy="2366962"/>
          </a:xfrm>
          <a:prstGeom prst="rect">
            <a:avLst/>
          </a:prstGeom>
        </p:spPr>
      </p:pic>
      <p:sp>
        <p:nvSpPr>
          <p:cNvPr id="15" name="Стрелка: вправо 28">
            <a:extLst>
              <a:ext uri="{FF2B5EF4-FFF2-40B4-BE49-F238E27FC236}">
                <a16:creationId xmlns:a16="http://schemas.microsoft.com/office/drawing/2014/main" id="{C38F8DD1-3678-4EFC-9144-F29045BE4059}"/>
              </a:ext>
            </a:extLst>
          </p:cNvPr>
          <p:cNvSpPr/>
          <p:nvPr/>
        </p:nvSpPr>
        <p:spPr>
          <a:xfrm>
            <a:off x="5500543" y="3404743"/>
            <a:ext cx="324795" cy="505305"/>
          </a:xfrm>
          <a:prstGeom prst="rightArrow">
            <a:avLst>
              <a:gd name="adj1" fmla="val 60119"/>
              <a:gd name="adj2" fmla="val 68979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242834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39840" y="1818639"/>
            <a:ext cx="5249487" cy="367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253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Общая архитектура приложения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8427" y="1326515"/>
            <a:ext cx="7690802" cy="514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168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</p:spPr>
        <p:txBody>
          <a:bodyPr/>
          <a:lstStyle/>
          <a:p>
            <a:r>
              <a:rPr lang="ru-RU" dirty="0"/>
              <a:t>Архитектура клиентской части приложения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8640" y="1123950"/>
            <a:ext cx="5816282" cy="546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405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</p:spPr>
        <p:txBody>
          <a:bodyPr/>
          <a:lstStyle/>
          <a:p>
            <a:r>
              <a:rPr lang="ru-RU" dirty="0"/>
              <a:t>Архитектура серверной части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217" y="1274762"/>
            <a:ext cx="9029383" cy="5113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607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</p:spPr>
        <p:txBody>
          <a:bodyPr/>
          <a:lstStyle/>
          <a:p>
            <a:r>
              <a:rPr lang="ru-RU" dirty="0"/>
              <a:t>Архитектура эмулятора</a:t>
            </a:r>
          </a:p>
        </p:txBody>
      </p:sp>
      <p:pic>
        <p:nvPicPr>
          <p:cNvPr id="4" name="Рисунок 3" descr="C:\Users\User\Downloads\Emulator.drawio.pn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6179" y="1534160"/>
            <a:ext cx="9850837" cy="4155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75451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950A427-2396-4452-A267-FC25A12F1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Результаты – Преобразование </a:t>
            </a:r>
            <a:r>
              <a:rPr lang="en-US" dirty="0" smtClean="0"/>
              <a:t>JSON </a:t>
            </a:r>
            <a:r>
              <a:rPr lang="ru-RU" dirty="0" smtClean="0"/>
              <a:t>в интерфейс</a:t>
            </a:r>
            <a:endParaRPr lang="ru-RU" dirty="0"/>
          </a:p>
        </p:txBody>
      </p:sp>
      <p:pic>
        <p:nvPicPr>
          <p:cNvPr id="8" name="Рисунок 7" descr="C:\Users\nsrtm\AppData\Local\Microsoft\Windows\INetCache\Content.MSO\BBBBAD06.tmp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915215" y="1436243"/>
            <a:ext cx="5762625" cy="457073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E783C1E-C34B-4E08-B50B-B7D00CDD374D}"/>
              </a:ext>
            </a:extLst>
          </p:cNvPr>
          <p:cNvSpPr/>
          <p:nvPr/>
        </p:nvSpPr>
        <p:spPr>
          <a:xfrm>
            <a:off x="550862" y="1840993"/>
            <a:ext cx="4100385" cy="416598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2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500" dirty="0"/>
              <a:t>{</a:t>
            </a:r>
          </a:p>
          <a:p>
            <a:r>
              <a:rPr lang="en-US" sz="500" dirty="0"/>
              <a:t>  "models": {</a:t>
            </a:r>
          </a:p>
          <a:p>
            <a:r>
              <a:rPr lang="en-US" sz="500" dirty="0"/>
              <a:t>    "</a:t>
            </a:r>
            <a:r>
              <a:rPr lang="en-US" sz="500" dirty="0" err="1"/>
              <a:t>TableHandler</a:t>
            </a:r>
            <a:r>
              <a:rPr lang="en-US" sz="500" dirty="0"/>
              <a:t>": {</a:t>
            </a:r>
          </a:p>
          <a:p>
            <a:r>
              <a:rPr lang="en-US" sz="500" dirty="0"/>
              <a:t>      "position": {</a:t>
            </a:r>
          </a:p>
          <a:p>
            <a:r>
              <a:rPr lang="en-US" sz="500" dirty="0"/>
              <a:t>        "x": [-1, 1]</a:t>
            </a:r>
          </a:p>
          <a:p>
            <a:r>
              <a:rPr lang="en-US" sz="500" dirty="0"/>
              <a:t>      }</a:t>
            </a:r>
          </a:p>
          <a:p>
            <a:r>
              <a:rPr lang="en-US" sz="500" dirty="0"/>
              <a:t>    },</a:t>
            </a:r>
          </a:p>
          <a:p>
            <a:r>
              <a:rPr lang="en-US" sz="500" dirty="0"/>
              <a:t>    "Table": {</a:t>
            </a:r>
          </a:p>
          <a:p>
            <a:r>
              <a:rPr lang="en-US" sz="500" dirty="0"/>
              <a:t>      "position": {</a:t>
            </a:r>
          </a:p>
          <a:p>
            <a:r>
              <a:rPr lang="en-US" sz="500" dirty="0"/>
              <a:t>        "z": [0.18, 0.58]</a:t>
            </a:r>
          </a:p>
          <a:p>
            <a:r>
              <a:rPr lang="en-US" sz="500" dirty="0"/>
              <a:t>      }</a:t>
            </a:r>
          </a:p>
          <a:p>
            <a:r>
              <a:rPr lang="en-US" sz="500" dirty="0"/>
              <a:t>    },</a:t>
            </a:r>
          </a:p>
          <a:p>
            <a:r>
              <a:rPr lang="en-US" sz="500" dirty="0"/>
              <a:t>    "Piston": {</a:t>
            </a:r>
          </a:p>
          <a:p>
            <a:r>
              <a:rPr lang="en-US" sz="500" dirty="0"/>
              <a:t>      "position": {</a:t>
            </a:r>
          </a:p>
          <a:p>
            <a:r>
              <a:rPr lang="en-US" sz="500" dirty="0"/>
              <a:t>        "y": [1.3447, 1.91]</a:t>
            </a:r>
          </a:p>
          <a:p>
            <a:r>
              <a:rPr lang="en-US" sz="500" dirty="0"/>
              <a:t>      }</a:t>
            </a:r>
          </a:p>
          <a:p>
            <a:r>
              <a:rPr lang="en-US" sz="500" dirty="0"/>
              <a:t>    },</a:t>
            </a:r>
          </a:p>
          <a:p>
            <a:r>
              <a:rPr lang="en-US" sz="500" dirty="0"/>
              <a:t>    "Rotator": {</a:t>
            </a:r>
          </a:p>
          <a:p>
            <a:r>
              <a:rPr lang="en-US" sz="500" dirty="0"/>
              <a:t>      "rotation": {</a:t>
            </a:r>
          </a:p>
          <a:p>
            <a:r>
              <a:rPr lang="en-US" sz="500" dirty="0"/>
              <a:t>        "y": [-1.570796, 1.570796]</a:t>
            </a:r>
          </a:p>
          <a:p>
            <a:r>
              <a:rPr lang="en-US" sz="500" dirty="0"/>
              <a:t>      }</a:t>
            </a:r>
          </a:p>
          <a:p>
            <a:r>
              <a:rPr lang="en-US" sz="500" dirty="0"/>
              <a:t>    },</a:t>
            </a:r>
          </a:p>
          <a:p>
            <a:r>
              <a:rPr lang="en-US" sz="500" dirty="0"/>
              <a:t>    "</a:t>
            </a:r>
            <a:r>
              <a:rPr lang="en-US" sz="500" dirty="0" err="1"/>
              <a:t>MainBox</a:t>
            </a:r>
            <a:r>
              <a:rPr lang="en-US" sz="500" dirty="0"/>
              <a:t>": {</a:t>
            </a:r>
          </a:p>
          <a:p>
            <a:r>
              <a:rPr lang="en-US" sz="500" dirty="0"/>
              <a:t>      "position": {</a:t>
            </a:r>
          </a:p>
          <a:p>
            <a:r>
              <a:rPr lang="en-US" sz="500" dirty="0"/>
              <a:t>        "y": [1.92, 2.68]</a:t>
            </a:r>
          </a:p>
          <a:p>
            <a:r>
              <a:rPr lang="en-US" sz="500" dirty="0"/>
              <a:t>      }</a:t>
            </a:r>
          </a:p>
          <a:p>
            <a:r>
              <a:rPr lang="en-US" sz="500" dirty="0"/>
              <a:t>    },</a:t>
            </a:r>
          </a:p>
          <a:p>
            <a:r>
              <a:rPr lang="en-US" sz="500" dirty="0"/>
              <a:t>    "</a:t>
            </a:r>
            <a:r>
              <a:rPr lang="en-US" sz="500" dirty="0" err="1"/>
              <a:t>MainHandler</a:t>
            </a:r>
            <a:r>
              <a:rPr lang="en-US" sz="500" dirty="0"/>
              <a:t>": {</a:t>
            </a:r>
          </a:p>
          <a:p>
            <a:r>
              <a:rPr lang="en-US" sz="500" dirty="0"/>
              <a:t>      "rotation": {</a:t>
            </a:r>
          </a:p>
          <a:p>
            <a:r>
              <a:rPr lang="en-US" sz="500" dirty="0"/>
              <a:t>        "z": [-0.5235, 0.5235]</a:t>
            </a:r>
          </a:p>
          <a:p>
            <a:r>
              <a:rPr lang="en-US" sz="500" dirty="0"/>
              <a:t>      }</a:t>
            </a:r>
          </a:p>
          <a:p>
            <a:r>
              <a:rPr lang="en-US" sz="500" dirty="0"/>
              <a:t>    }</a:t>
            </a:r>
          </a:p>
          <a:p>
            <a:r>
              <a:rPr lang="en-US" sz="500" dirty="0"/>
              <a:t>  },</a:t>
            </a:r>
          </a:p>
          <a:p>
            <a:r>
              <a:rPr lang="en-US" sz="500" dirty="0"/>
              <a:t>  "</a:t>
            </a:r>
            <a:r>
              <a:rPr lang="en-US" sz="500" dirty="0" err="1"/>
              <a:t>controlElements</a:t>
            </a:r>
            <a:r>
              <a:rPr lang="en-US" sz="500" dirty="0"/>
              <a:t>": [</a:t>
            </a:r>
          </a:p>
          <a:p>
            <a:r>
              <a:rPr lang="en-US" sz="500" dirty="0"/>
              <a:t>    {</a:t>
            </a:r>
          </a:p>
          <a:p>
            <a:r>
              <a:rPr lang="en-US" sz="500" dirty="0"/>
              <a:t>      "name": "</a:t>
            </a:r>
            <a:r>
              <a:rPr lang="en-US" sz="500" dirty="0" err="1"/>
              <a:t>DeskMovement</a:t>
            </a:r>
            <a:r>
              <a:rPr lang="en-US" sz="500" dirty="0"/>
              <a:t>",</a:t>
            </a:r>
          </a:p>
          <a:p>
            <a:r>
              <a:rPr lang="en-US" sz="500" dirty="0"/>
              <a:t>      "element": "Joystick",</a:t>
            </a:r>
          </a:p>
          <a:p>
            <a:r>
              <a:rPr lang="en-US" sz="500" dirty="0"/>
              <a:t>      "position": "Center",</a:t>
            </a:r>
          </a:p>
          <a:p>
            <a:r>
              <a:rPr lang="en-US" sz="500" dirty="0"/>
              <a:t>      "props": {</a:t>
            </a:r>
          </a:p>
          <a:p>
            <a:r>
              <a:rPr lang="en-US" sz="500" dirty="0"/>
              <a:t>        "</a:t>
            </a:r>
            <a:r>
              <a:rPr lang="en-US" sz="500" dirty="0" err="1"/>
              <a:t>xpath</a:t>
            </a:r>
            <a:r>
              <a:rPr lang="en-US" sz="500" dirty="0"/>
              <a:t>": "</a:t>
            </a:r>
            <a:r>
              <a:rPr lang="ru-RU" sz="500" dirty="0"/>
              <a:t>Стол/</a:t>
            </a:r>
            <a:r>
              <a:rPr lang="en-US" sz="500" dirty="0"/>
              <a:t>position/z",</a:t>
            </a:r>
          </a:p>
          <a:p>
            <a:r>
              <a:rPr lang="en-US" sz="500" dirty="0"/>
              <a:t>        "</a:t>
            </a:r>
            <a:r>
              <a:rPr lang="en-US" sz="500" dirty="0" err="1"/>
              <a:t>ypath</a:t>
            </a:r>
            <a:r>
              <a:rPr lang="en-US" sz="500" dirty="0"/>
              <a:t>": "</a:t>
            </a:r>
            <a:r>
              <a:rPr lang="ru-RU" sz="500" dirty="0" err="1"/>
              <a:t>Вертикальная_каретка</a:t>
            </a:r>
            <a:r>
              <a:rPr lang="ru-RU" sz="500" dirty="0"/>
              <a:t>/</a:t>
            </a:r>
            <a:r>
              <a:rPr lang="en-US" sz="500" dirty="0"/>
              <a:t>position/y",</a:t>
            </a:r>
          </a:p>
          <a:p>
            <a:r>
              <a:rPr lang="en-US" sz="500" dirty="0"/>
              <a:t>        "</a:t>
            </a:r>
            <a:r>
              <a:rPr lang="en-US" sz="500" dirty="0" err="1"/>
              <a:t>topImg</a:t>
            </a:r>
            <a:r>
              <a:rPr lang="en-US" sz="500" dirty="0"/>
              <a:t>": "/more_ver.png",</a:t>
            </a:r>
          </a:p>
          <a:p>
            <a:r>
              <a:rPr lang="en-US" sz="500" dirty="0"/>
              <a:t>        "</a:t>
            </a:r>
            <a:r>
              <a:rPr lang="en-US" sz="500" dirty="0" err="1"/>
              <a:t>bottomImg</a:t>
            </a:r>
            <a:r>
              <a:rPr lang="en-US" sz="500" dirty="0"/>
              <a:t>": "/less_ver.png",</a:t>
            </a:r>
          </a:p>
          <a:p>
            <a:r>
              <a:rPr lang="en-US" sz="500" dirty="0"/>
              <a:t>        "</a:t>
            </a:r>
            <a:r>
              <a:rPr lang="en-US" sz="500" dirty="0" err="1"/>
              <a:t>leftImg</a:t>
            </a:r>
            <a:r>
              <a:rPr lang="en-US" sz="500" dirty="0"/>
              <a:t>": "/Hor_left.png",</a:t>
            </a:r>
          </a:p>
          <a:p>
            <a:r>
              <a:rPr lang="en-US" sz="500" dirty="0"/>
              <a:t>        "</a:t>
            </a:r>
            <a:r>
              <a:rPr lang="en-US" sz="500" dirty="0" err="1"/>
              <a:t>rightImg</a:t>
            </a:r>
            <a:r>
              <a:rPr lang="en-US" sz="500" dirty="0"/>
              <a:t>": "/Hor_right.png"</a:t>
            </a:r>
          </a:p>
          <a:p>
            <a:r>
              <a:rPr lang="en-US" sz="500" dirty="0"/>
              <a:t>      }</a:t>
            </a:r>
          </a:p>
          <a:p>
            <a:r>
              <a:rPr lang="en-US" sz="500" dirty="0"/>
              <a:t>    },</a:t>
            </a:r>
          </a:p>
          <a:p>
            <a:r>
              <a:rPr lang="en-US" sz="500" dirty="0"/>
              <a:t>    {</a:t>
            </a:r>
          </a:p>
          <a:p>
            <a:r>
              <a:rPr lang="en-US" sz="500" dirty="0"/>
              <a:t>      "name": "</a:t>
            </a:r>
            <a:r>
              <a:rPr lang="en-US" sz="500" dirty="0" err="1"/>
              <a:t>VerticalDeskMovement</a:t>
            </a:r>
            <a:r>
              <a:rPr lang="en-US" sz="500" dirty="0"/>
              <a:t>",</a:t>
            </a:r>
          </a:p>
          <a:p>
            <a:r>
              <a:rPr lang="en-US" sz="500" dirty="0"/>
              <a:t>      "element": "Joystick",</a:t>
            </a:r>
          </a:p>
          <a:p>
            <a:r>
              <a:rPr lang="en-US" sz="500" dirty="0"/>
              <a:t>      "position": "Center",</a:t>
            </a:r>
          </a:p>
          <a:p>
            <a:r>
              <a:rPr lang="en-US" sz="500" dirty="0"/>
              <a:t>      "props": {</a:t>
            </a:r>
          </a:p>
          <a:p>
            <a:r>
              <a:rPr lang="en-US" sz="500" dirty="0"/>
              <a:t>        "</a:t>
            </a:r>
            <a:r>
              <a:rPr lang="en-US" sz="500" dirty="0" err="1"/>
              <a:t>xpath</a:t>
            </a:r>
            <a:r>
              <a:rPr lang="en-US" sz="500" dirty="0"/>
              <a:t>": "</a:t>
            </a:r>
            <a:r>
              <a:rPr lang="ru-RU" sz="500" dirty="0" err="1"/>
              <a:t>Основание_Рентгена</a:t>
            </a:r>
            <a:r>
              <a:rPr lang="ru-RU" sz="500" dirty="0"/>
              <a:t>/</a:t>
            </a:r>
            <a:r>
              <a:rPr lang="en-US" sz="500" dirty="0"/>
              <a:t>position/z",</a:t>
            </a:r>
          </a:p>
          <a:p>
            <a:r>
              <a:rPr lang="en-US" sz="500" dirty="0"/>
              <a:t>        "</a:t>
            </a:r>
            <a:r>
              <a:rPr lang="en-US" sz="500" dirty="0" err="1"/>
              <a:t>ypath</a:t>
            </a:r>
            <a:r>
              <a:rPr lang="en-US" sz="500" dirty="0"/>
              <a:t>": "</a:t>
            </a:r>
            <a:r>
              <a:rPr lang="ru-RU" sz="500" dirty="0" err="1"/>
              <a:t>Вертикальная_поверхность</a:t>
            </a:r>
            <a:r>
              <a:rPr lang="ru-RU" sz="500" dirty="0"/>
              <a:t>/</a:t>
            </a:r>
            <a:r>
              <a:rPr lang="en-US" sz="500" dirty="0"/>
              <a:t>position/y",</a:t>
            </a:r>
          </a:p>
          <a:p>
            <a:r>
              <a:rPr lang="en-US" sz="500" dirty="0"/>
              <a:t>        "</a:t>
            </a:r>
            <a:r>
              <a:rPr lang="en-US" sz="500" dirty="0" err="1"/>
              <a:t>topImg</a:t>
            </a:r>
            <a:r>
              <a:rPr lang="en-US" sz="500" dirty="0"/>
              <a:t>": "/Hor_up.png",</a:t>
            </a:r>
          </a:p>
          <a:p>
            <a:r>
              <a:rPr lang="en-US" sz="500" dirty="0"/>
              <a:t>        "</a:t>
            </a:r>
            <a:r>
              <a:rPr lang="en-US" sz="500" dirty="0" err="1"/>
              <a:t>bottomImg</a:t>
            </a:r>
            <a:r>
              <a:rPr lang="en-US" sz="500" dirty="0"/>
              <a:t>": "/Hor_down.png",</a:t>
            </a:r>
          </a:p>
          <a:p>
            <a:r>
              <a:rPr lang="en-US" sz="500" dirty="0"/>
              <a:t>        "</a:t>
            </a:r>
            <a:r>
              <a:rPr lang="en-US" sz="500" dirty="0" err="1"/>
              <a:t>leftImg</a:t>
            </a:r>
            <a:r>
              <a:rPr lang="en-US" sz="500" dirty="0"/>
              <a:t>": "/less_hor.png",</a:t>
            </a:r>
          </a:p>
          <a:p>
            <a:r>
              <a:rPr lang="en-US" sz="500" dirty="0"/>
              <a:t>        "</a:t>
            </a:r>
            <a:r>
              <a:rPr lang="en-US" sz="500" dirty="0" err="1"/>
              <a:t>rightImg</a:t>
            </a:r>
            <a:r>
              <a:rPr lang="en-US" sz="500" dirty="0"/>
              <a:t>": "/more_hor.png"</a:t>
            </a:r>
          </a:p>
          <a:p>
            <a:r>
              <a:rPr lang="en-US" sz="500" dirty="0"/>
              <a:t>      }</a:t>
            </a:r>
          </a:p>
          <a:p>
            <a:r>
              <a:rPr lang="en-US" sz="500" dirty="0"/>
              <a:t>    },</a:t>
            </a:r>
          </a:p>
          <a:p>
            <a:r>
              <a:rPr lang="en-US" sz="500" dirty="0"/>
              <a:t>    {</a:t>
            </a:r>
          </a:p>
          <a:p>
            <a:r>
              <a:rPr lang="en-US" sz="500" dirty="0"/>
              <a:t>      "name": "</a:t>
            </a:r>
            <a:r>
              <a:rPr lang="ru-RU" sz="500" dirty="0"/>
              <a:t>Горизонтальный вид",</a:t>
            </a:r>
          </a:p>
          <a:p>
            <a:r>
              <a:rPr lang="ru-RU" sz="500" dirty="0"/>
              <a:t>      "</a:t>
            </a:r>
            <a:r>
              <a:rPr lang="en-US" sz="500" dirty="0"/>
              <a:t>element": "</a:t>
            </a:r>
            <a:r>
              <a:rPr lang="en-US" sz="500" dirty="0" err="1"/>
              <a:t>setButton</a:t>
            </a:r>
            <a:r>
              <a:rPr lang="en-US" sz="500" dirty="0"/>
              <a:t>",</a:t>
            </a:r>
          </a:p>
          <a:p>
            <a:r>
              <a:rPr lang="en-US" sz="500" dirty="0"/>
              <a:t>      "position": "Bottom",</a:t>
            </a:r>
          </a:p>
          <a:p>
            <a:r>
              <a:rPr lang="en-US" sz="500" dirty="0"/>
              <a:t>      "props": {</a:t>
            </a:r>
          </a:p>
          <a:p>
            <a:r>
              <a:rPr lang="en-US" sz="500" dirty="0"/>
              <a:t>        "values": []</a:t>
            </a:r>
          </a:p>
          <a:p>
            <a:r>
              <a:rPr lang="en-US" sz="500" dirty="0"/>
              <a:t>      }</a:t>
            </a:r>
          </a:p>
          <a:p>
            <a:r>
              <a:rPr lang="en-US" sz="500" dirty="0"/>
              <a:t>    },</a:t>
            </a:r>
          </a:p>
          <a:p>
            <a:r>
              <a:rPr lang="en-US" sz="500" dirty="0"/>
              <a:t>    {</a:t>
            </a:r>
          </a:p>
          <a:p>
            <a:r>
              <a:rPr lang="en-US" sz="500" dirty="0"/>
              <a:t>      "name": "</a:t>
            </a:r>
            <a:r>
              <a:rPr lang="ru-RU" sz="500" dirty="0"/>
              <a:t>Вертикальный вид",</a:t>
            </a:r>
          </a:p>
          <a:p>
            <a:r>
              <a:rPr lang="ru-RU" sz="500" dirty="0"/>
              <a:t>      "</a:t>
            </a:r>
            <a:r>
              <a:rPr lang="en-US" sz="500" dirty="0"/>
              <a:t>element": "</a:t>
            </a:r>
            <a:r>
              <a:rPr lang="en-US" sz="500" dirty="0" err="1"/>
              <a:t>setButton</a:t>
            </a:r>
            <a:r>
              <a:rPr lang="en-US" sz="500" dirty="0"/>
              <a:t>",</a:t>
            </a:r>
          </a:p>
          <a:p>
            <a:r>
              <a:rPr lang="en-US" sz="500" dirty="0"/>
              <a:t>      "position": "Bottom",</a:t>
            </a:r>
          </a:p>
          <a:p>
            <a:r>
              <a:rPr lang="en-US" sz="500" dirty="0"/>
              <a:t>      "props": {</a:t>
            </a:r>
          </a:p>
          <a:p>
            <a:r>
              <a:rPr lang="en-US" sz="500" dirty="0"/>
              <a:t>        "values": []</a:t>
            </a:r>
          </a:p>
          <a:p>
            <a:r>
              <a:rPr lang="en-US" sz="500" dirty="0"/>
              <a:t>      }</a:t>
            </a:r>
          </a:p>
          <a:p>
            <a:r>
              <a:rPr lang="en-US" sz="500" dirty="0"/>
              <a:t>    },</a:t>
            </a:r>
          </a:p>
          <a:p>
            <a:r>
              <a:rPr lang="en-US" sz="500" dirty="0"/>
              <a:t>    {</a:t>
            </a:r>
          </a:p>
          <a:p>
            <a:r>
              <a:rPr lang="en-US" sz="500" dirty="0"/>
              <a:t>      "name": "Rotate Head X",</a:t>
            </a:r>
          </a:p>
          <a:p>
            <a:r>
              <a:rPr lang="en-US" sz="500" dirty="0"/>
              <a:t>      "element": "</a:t>
            </a:r>
            <a:r>
              <a:rPr lang="en-US" sz="500" dirty="0" err="1"/>
              <a:t>ArrowButtons</a:t>
            </a:r>
            <a:r>
              <a:rPr lang="en-US" sz="500" dirty="0"/>
              <a:t>",</a:t>
            </a:r>
          </a:p>
          <a:p>
            <a:r>
              <a:rPr lang="en-US" sz="500" dirty="0"/>
              <a:t>      "position": "</a:t>
            </a:r>
            <a:r>
              <a:rPr lang="en-US" sz="500" dirty="0" err="1"/>
              <a:t>BottomLeft</a:t>
            </a:r>
            <a:r>
              <a:rPr lang="en-US" sz="500" dirty="0"/>
              <a:t>",</a:t>
            </a:r>
          </a:p>
          <a:p>
            <a:r>
              <a:rPr lang="en-US" sz="500" dirty="0"/>
              <a:t>      "props": {</a:t>
            </a:r>
          </a:p>
          <a:p>
            <a:r>
              <a:rPr lang="en-US" sz="500" dirty="0"/>
              <a:t>        "type": "up/down",</a:t>
            </a:r>
          </a:p>
          <a:p>
            <a:r>
              <a:rPr lang="en-US" sz="500" dirty="0"/>
              <a:t>        "path": "</a:t>
            </a:r>
            <a:r>
              <a:rPr lang="ru-RU" sz="500" dirty="0"/>
              <a:t>Горизонтальная_ось_1/</a:t>
            </a:r>
            <a:r>
              <a:rPr lang="en-US" sz="500" dirty="0"/>
              <a:t>rotation/x",</a:t>
            </a:r>
          </a:p>
          <a:p>
            <a:r>
              <a:rPr lang="en-US" sz="500" dirty="0"/>
              <a:t>        "</a:t>
            </a:r>
            <a:r>
              <a:rPr lang="en-US" sz="500" dirty="0" err="1"/>
              <a:t>topImg</a:t>
            </a:r>
            <a:r>
              <a:rPr lang="en-US" sz="500" dirty="0"/>
              <a:t>": "/turn_left.png",</a:t>
            </a:r>
          </a:p>
          <a:p>
            <a:r>
              <a:rPr lang="en-US" sz="500" dirty="0"/>
              <a:t>        "</a:t>
            </a:r>
            <a:r>
              <a:rPr lang="en-US" sz="500" dirty="0" err="1"/>
              <a:t>bottomImg</a:t>
            </a:r>
            <a:r>
              <a:rPr lang="en-US" sz="500" dirty="0"/>
              <a:t>": "/turn_right.png"</a:t>
            </a:r>
          </a:p>
          <a:p>
            <a:r>
              <a:rPr lang="en-US" sz="500" dirty="0"/>
              <a:t>      }</a:t>
            </a:r>
          </a:p>
          <a:p>
            <a:r>
              <a:rPr lang="en-US" sz="500" dirty="0"/>
              <a:t>    },</a:t>
            </a:r>
          </a:p>
          <a:p>
            <a:r>
              <a:rPr lang="en-US" sz="500" dirty="0"/>
              <a:t>    {</a:t>
            </a:r>
          </a:p>
          <a:p>
            <a:r>
              <a:rPr lang="en-US" sz="500" dirty="0"/>
              <a:t>      "name": "Power",</a:t>
            </a:r>
          </a:p>
          <a:p>
            <a:r>
              <a:rPr lang="en-US" sz="500" dirty="0"/>
              <a:t>      "element": "</a:t>
            </a:r>
            <a:r>
              <a:rPr lang="en-US" sz="500" dirty="0" err="1"/>
              <a:t>PowerButton</a:t>
            </a:r>
            <a:r>
              <a:rPr lang="en-US" sz="500" dirty="0"/>
              <a:t>",</a:t>
            </a:r>
          </a:p>
          <a:p>
            <a:r>
              <a:rPr lang="en-US" sz="500" dirty="0"/>
              <a:t>      "position": "</a:t>
            </a:r>
            <a:r>
              <a:rPr lang="en-US" sz="500" dirty="0" err="1"/>
              <a:t>TopLeft</a:t>
            </a:r>
            <a:r>
              <a:rPr lang="en-US" sz="500" dirty="0"/>
              <a:t>",</a:t>
            </a:r>
          </a:p>
          <a:p>
            <a:r>
              <a:rPr lang="en-US" sz="500" dirty="0"/>
              <a:t>      "props": {</a:t>
            </a:r>
          </a:p>
          <a:p>
            <a:r>
              <a:rPr lang="en-US" sz="500" dirty="0"/>
              <a:t>        "values": []</a:t>
            </a:r>
          </a:p>
          <a:p>
            <a:r>
              <a:rPr lang="en-US" sz="500" dirty="0"/>
              <a:t>      }</a:t>
            </a:r>
          </a:p>
          <a:p>
            <a:r>
              <a:rPr lang="en-US" sz="500" dirty="0"/>
              <a:t>    },</a:t>
            </a:r>
          </a:p>
          <a:p>
            <a:r>
              <a:rPr lang="en-US" sz="500" dirty="0"/>
              <a:t>    {</a:t>
            </a:r>
          </a:p>
          <a:p>
            <a:r>
              <a:rPr lang="en-US" sz="500" dirty="0"/>
              <a:t>      "name": "Stop",</a:t>
            </a:r>
          </a:p>
          <a:p>
            <a:r>
              <a:rPr lang="en-US" sz="500" dirty="0"/>
              <a:t>      "position": "</a:t>
            </a:r>
            <a:r>
              <a:rPr lang="en-US" sz="500" dirty="0" err="1"/>
              <a:t>TopRight</a:t>
            </a:r>
            <a:r>
              <a:rPr lang="en-US" sz="500" dirty="0"/>
              <a:t>",</a:t>
            </a:r>
          </a:p>
          <a:p>
            <a:r>
              <a:rPr lang="en-US" sz="500" dirty="0"/>
              <a:t>      "element": "</a:t>
            </a:r>
            <a:r>
              <a:rPr lang="en-US" sz="500" dirty="0" err="1"/>
              <a:t>EmergencyStop</a:t>
            </a:r>
            <a:r>
              <a:rPr lang="en-US" sz="500" dirty="0"/>
              <a:t>"</a:t>
            </a:r>
          </a:p>
          <a:p>
            <a:r>
              <a:rPr lang="en-US" sz="500" dirty="0"/>
              <a:t>    }</a:t>
            </a:r>
          </a:p>
          <a:p>
            <a:r>
              <a:rPr lang="en-US" sz="500" dirty="0"/>
              <a:t>  ]</a:t>
            </a:r>
          </a:p>
          <a:p>
            <a:r>
              <a:rPr lang="en-US" sz="500" dirty="0" smtClean="0"/>
              <a:t>}</a:t>
            </a:r>
            <a:endParaRPr lang="en-US" sz="500" dirty="0"/>
          </a:p>
        </p:txBody>
      </p:sp>
      <p:sp>
        <p:nvSpPr>
          <p:cNvPr id="12" name="Стрелка: вправо 28">
            <a:extLst>
              <a:ext uri="{FF2B5EF4-FFF2-40B4-BE49-F238E27FC236}">
                <a16:creationId xmlns:a16="http://schemas.microsoft.com/office/drawing/2014/main" id="{C38F8DD1-3678-4EFC-9144-F29045BE4059}"/>
              </a:ext>
            </a:extLst>
          </p:cNvPr>
          <p:cNvSpPr/>
          <p:nvPr/>
        </p:nvSpPr>
        <p:spPr>
          <a:xfrm>
            <a:off x="5192630" y="3468955"/>
            <a:ext cx="324795" cy="505305"/>
          </a:xfrm>
          <a:prstGeom prst="rightArrow">
            <a:avLst>
              <a:gd name="adj1" fmla="val 60119"/>
              <a:gd name="adj2" fmla="val 68979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242834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2109216" y="1375394"/>
            <a:ext cx="813043" cy="3734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>
              <a:lnSpc>
                <a:spcPct val="110000"/>
              </a:lnSpc>
              <a:spcAft>
                <a:spcPts val="1200"/>
              </a:spcAft>
            </a:pPr>
            <a:r>
              <a:rPr lang="en-US" b="1" dirty="0">
                <a:solidFill>
                  <a:schemeClr val="accent1"/>
                </a:solidFill>
              </a:rPr>
              <a:t>JSON</a:t>
            </a:r>
            <a:endParaRPr lang="ru-RU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7779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950A427-2396-4452-A267-FC25A12F1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</p:spPr>
        <p:txBody>
          <a:bodyPr/>
          <a:lstStyle/>
          <a:p>
            <a:r>
              <a:rPr lang="ru-RU" dirty="0" smtClean="0"/>
              <a:t>Результаты – Возможность настройки моделей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111" y="1092122"/>
            <a:ext cx="10865155" cy="5271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969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950A427-2396-4452-A267-FC25A12F1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Результаты – Возможность </a:t>
            </a:r>
            <a:r>
              <a:rPr lang="ru-RU" dirty="0" err="1" smtClean="0"/>
              <a:t>предпросмотра</a:t>
            </a:r>
            <a:r>
              <a:rPr lang="ru-RU" dirty="0" smtClean="0"/>
              <a:t> моделей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16" y="1160700"/>
            <a:ext cx="10628704" cy="510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077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950A427-2396-4452-A267-FC25A12F1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Результаты – Интерфейс подключения к аппарату</a:t>
            </a: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/>
          <a:srcRect t="265" b="42711"/>
          <a:stretch/>
        </p:blipFill>
        <p:spPr>
          <a:xfrm>
            <a:off x="5355028" y="1221533"/>
            <a:ext cx="6239400" cy="3002995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494" y="1221533"/>
            <a:ext cx="4725059" cy="1219370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4"/>
          <a:stretch>
            <a:fillRect/>
          </a:stretch>
        </p:blipFill>
        <p:spPr>
          <a:xfrm>
            <a:off x="496494" y="2573812"/>
            <a:ext cx="4730004" cy="1382492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8099" y="4224528"/>
            <a:ext cx="3381847" cy="213389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737" y="4865687"/>
            <a:ext cx="663769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097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950A427-2396-4452-A267-FC25A12F1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Результаты – Интерфейс программы</a:t>
            </a:r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1221423" y="1117282"/>
            <a:ext cx="5673153" cy="2727408"/>
          </a:xfrm>
          <a:prstGeom prst="rect">
            <a:avLst/>
          </a:prstGeom>
        </p:spPr>
      </p:pic>
      <p:pic>
        <p:nvPicPr>
          <p:cNvPr id="5" name="Рисунок 4"/>
          <p:cNvPicPr/>
          <p:nvPr/>
        </p:nvPicPr>
        <p:blipFill rotWithShape="1">
          <a:blip r:embed="rId3"/>
          <a:srcRect t="8304" r="55456"/>
          <a:stretch/>
        </p:blipFill>
        <p:spPr>
          <a:xfrm>
            <a:off x="4134212" y="3964114"/>
            <a:ext cx="2760364" cy="2593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2981" y="3964114"/>
            <a:ext cx="2601658" cy="25930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0421" y="1117283"/>
            <a:ext cx="3623564" cy="5439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197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Заключение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sz="1600" dirty="0">
                <a:solidFill>
                  <a:schemeClr val="tx1"/>
                </a:solidFill>
              </a:rPr>
              <a:t>Разработанное веб-приложение успешно решает задачу отображения взаимодействия настроек с 3D визуализацией телеуправляемого рентгеновского аппарата. Использование современных технологий, таких как Three.js, </a:t>
            </a:r>
            <a:r>
              <a:rPr lang="ru-RU" sz="1600" dirty="0" err="1">
                <a:solidFill>
                  <a:schemeClr val="tx1"/>
                </a:solidFill>
              </a:rPr>
              <a:t>WebGL</a:t>
            </a:r>
            <a:r>
              <a:rPr lang="ru-RU" sz="1600" dirty="0">
                <a:solidFill>
                  <a:schemeClr val="tx1"/>
                </a:solidFill>
              </a:rPr>
              <a:t> и </a:t>
            </a:r>
            <a:r>
              <a:rPr lang="ru-RU" sz="1600" dirty="0" err="1" smtClean="0">
                <a:solidFill>
                  <a:schemeClr val="tx1"/>
                </a:solidFill>
              </a:rPr>
              <a:t>Redux</a:t>
            </a:r>
            <a:r>
              <a:rPr lang="ru-RU" sz="1600" dirty="0" smtClean="0">
                <a:solidFill>
                  <a:schemeClr val="tx1"/>
                </a:solidFill>
              </a:rPr>
              <a:t> </a:t>
            </a:r>
            <a:r>
              <a:rPr lang="ru-RU" sz="1600" dirty="0" err="1" smtClean="0">
                <a:solidFill>
                  <a:schemeClr val="tx1"/>
                </a:solidFill>
              </a:rPr>
              <a:t>Toolkit</a:t>
            </a:r>
            <a:r>
              <a:rPr lang="ru-RU" sz="1600" dirty="0" smtClean="0">
                <a:solidFill>
                  <a:schemeClr val="tx1"/>
                </a:solidFill>
              </a:rPr>
              <a:t>, </a:t>
            </a:r>
            <a:r>
              <a:rPr lang="ru-RU" sz="1600" dirty="0">
                <a:solidFill>
                  <a:schemeClr val="tx1"/>
                </a:solidFill>
              </a:rPr>
              <a:t>позволило создать масштабируемое и производительное решение. Применение JSON для конфигурации управления обеспечило гибкость и простоту настройки, а выбор </a:t>
            </a:r>
            <a:r>
              <a:rPr lang="ru-RU" sz="1600" dirty="0" err="1">
                <a:solidFill>
                  <a:schemeClr val="tx1"/>
                </a:solidFill>
              </a:rPr>
              <a:t>SQLite</a:t>
            </a:r>
            <a:r>
              <a:rPr lang="ru-RU" sz="1600" dirty="0">
                <a:solidFill>
                  <a:schemeClr val="tx1"/>
                </a:solidFill>
              </a:rPr>
              <a:t> минимизировал требования к серверным ресурсам.</a:t>
            </a:r>
          </a:p>
          <a:p>
            <a:r>
              <a:rPr lang="ru-RU" sz="1600" dirty="0">
                <a:solidFill>
                  <a:schemeClr val="tx1"/>
                </a:solidFill>
              </a:rPr>
              <a:t>Веб-приложение имеет практическую ценность для образовательных целей, обучения медицинского персонала и демонстрации возможностей телеуправляемых рентгеновских систем</a:t>
            </a:r>
            <a:r>
              <a:rPr lang="ru-RU" sz="1600" dirty="0" smtClean="0">
                <a:solidFill>
                  <a:schemeClr val="tx1"/>
                </a:solidFill>
              </a:rPr>
              <a:t>.</a:t>
            </a:r>
            <a:endParaRPr lang="en-US" sz="1600" dirty="0" smtClean="0">
              <a:solidFill>
                <a:schemeClr val="tx1"/>
              </a:solidFill>
            </a:endParaRPr>
          </a:p>
          <a:p>
            <a:r>
              <a:rPr lang="ru-RU" sz="1600" dirty="0">
                <a:solidFill>
                  <a:schemeClr val="tx1"/>
                </a:solidFill>
              </a:rPr>
              <a:t>С</a:t>
            </a:r>
            <a:r>
              <a:rPr lang="ru-RU" sz="1600" dirty="0" smtClean="0">
                <a:solidFill>
                  <a:schemeClr val="tx1"/>
                </a:solidFill>
              </a:rPr>
              <a:t>озданное веб-приложение</a:t>
            </a:r>
            <a:r>
              <a:rPr lang="ru-RU" sz="1600" dirty="0">
                <a:solidFill>
                  <a:schemeClr val="tx1"/>
                </a:solidFill>
              </a:rPr>
              <a:t>, </a:t>
            </a:r>
            <a:r>
              <a:rPr lang="ru-RU" sz="1600" dirty="0" smtClean="0">
                <a:solidFill>
                  <a:schemeClr val="tx1"/>
                </a:solidFill>
              </a:rPr>
              <a:t>обеспечивает интерактивное </a:t>
            </a:r>
            <a:r>
              <a:rPr lang="ru-RU" sz="1600" dirty="0">
                <a:solidFill>
                  <a:schemeClr val="tx1"/>
                </a:solidFill>
              </a:rPr>
              <a:t>управление моделью рентгеновского аппарата с задержкой передачи команд </a:t>
            </a:r>
            <a:r>
              <a:rPr lang="ru-RU" sz="1600" dirty="0" smtClean="0">
                <a:solidFill>
                  <a:schemeClr val="tx1"/>
                </a:solidFill>
              </a:rPr>
              <a:t>в пределах 100мс</a:t>
            </a:r>
            <a:endParaRPr lang="ru-RU" sz="1600" dirty="0">
              <a:solidFill>
                <a:schemeClr val="tx1"/>
              </a:solidFill>
            </a:endParaRPr>
          </a:p>
          <a:p>
            <a:endParaRPr lang="ru-RU" i="1" dirty="0">
              <a:solidFill>
                <a:srgbClr val="005AA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sz="2300" dirty="0">
                <a:solidFill>
                  <a:schemeClr val="tx1"/>
                </a:solidFill>
              </a:rPr>
              <a:t>В ходе выполнения работы были достигнуты следующие результаты:</a:t>
            </a:r>
          </a:p>
          <a:p>
            <a:pPr lvl="5">
              <a:lnSpc>
                <a:spcPct val="120000"/>
              </a:lnSpc>
            </a:pPr>
            <a:r>
              <a:rPr lang="ru-RU" sz="2300" dirty="0"/>
              <a:t>С</a:t>
            </a:r>
            <a:r>
              <a:rPr lang="ru-RU" sz="2300" dirty="0" smtClean="0"/>
              <a:t>оздана </a:t>
            </a:r>
            <a:r>
              <a:rPr lang="ru-RU" sz="2300" dirty="0"/>
              <a:t>реалистичная 3D-модель рентгеновского аппарата в </a:t>
            </a:r>
            <a:r>
              <a:rPr lang="ru-RU" sz="2300" dirty="0" err="1"/>
              <a:t>Blender</a:t>
            </a:r>
            <a:r>
              <a:rPr lang="ru-RU" sz="2300" dirty="0"/>
              <a:t> с экспортом в формат </a:t>
            </a:r>
            <a:r>
              <a:rPr lang="ru-RU" sz="2300" dirty="0" err="1"/>
              <a:t>glTF</a:t>
            </a:r>
            <a:r>
              <a:rPr lang="ru-RU" sz="2300" dirty="0"/>
              <a:t> </a:t>
            </a:r>
            <a:r>
              <a:rPr lang="ru-RU" sz="2300" dirty="0" smtClean="0"/>
              <a:t>2.0</a:t>
            </a:r>
            <a:endParaRPr lang="ru-RU" sz="2300" dirty="0"/>
          </a:p>
          <a:p>
            <a:pPr lvl="5">
              <a:lnSpc>
                <a:spcPct val="120000"/>
              </a:lnSpc>
            </a:pPr>
            <a:r>
              <a:rPr lang="ru-RU" sz="2300" dirty="0"/>
              <a:t>Р</a:t>
            </a:r>
            <a:r>
              <a:rPr lang="ru-RU" sz="2300" dirty="0" smtClean="0"/>
              <a:t>еализован </a:t>
            </a:r>
            <a:r>
              <a:rPr lang="ru-RU" sz="2300" dirty="0"/>
              <a:t>веб-интерфейс на основе </a:t>
            </a:r>
            <a:r>
              <a:rPr lang="ru-RU" sz="2300" dirty="0" err="1"/>
              <a:t>React</a:t>
            </a:r>
            <a:r>
              <a:rPr lang="ru-RU" sz="2300" dirty="0"/>
              <a:t> и Three.js, обеспечивающий интерактивное управление моделью через джойстик, кнопки и числовые </a:t>
            </a:r>
            <a:r>
              <a:rPr lang="ru-RU" sz="2300" dirty="0" smtClean="0"/>
              <a:t>поля</a:t>
            </a:r>
            <a:r>
              <a:rPr lang="en-US" sz="2300" dirty="0" smtClean="0"/>
              <a:t>. </a:t>
            </a:r>
            <a:endParaRPr lang="ru-RU" sz="2300" dirty="0" smtClean="0"/>
          </a:p>
          <a:p>
            <a:pPr lvl="5">
              <a:lnSpc>
                <a:spcPct val="120000"/>
              </a:lnSpc>
            </a:pPr>
            <a:r>
              <a:rPr lang="ru-RU" sz="2300" dirty="0" smtClean="0"/>
              <a:t>Разработан </a:t>
            </a:r>
            <a:r>
              <a:rPr lang="ru-RU" sz="2300" dirty="0"/>
              <a:t>сервер-эмулятор на Node.js с </a:t>
            </a:r>
            <a:r>
              <a:rPr lang="ru-RU" sz="2300" dirty="0" err="1"/>
              <a:t>Express</a:t>
            </a:r>
            <a:r>
              <a:rPr lang="ru-RU" sz="2300" dirty="0"/>
              <a:t>, поддерживающий API для работы с моделями и их </a:t>
            </a:r>
            <a:r>
              <a:rPr lang="ru-RU" sz="2300" dirty="0" smtClean="0"/>
              <a:t>конфигурациями</a:t>
            </a:r>
            <a:r>
              <a:rPr lang="en-US" sz="2300" dirty="0" smtClean="0"/>
              <a:t>.</a:t>
            </a:r>
            <a:endParaRPr lang="ru-RU" sz="2300" dirty="0"/>
          </a:p>
          <a:p>
            <a:pPr lvl="5">
              <a:lnSpc>
                <a:spcPct val="120000"/>
              </a:lnSpc>
            </a:pPr>
            <a:r>
              <a:rPr lang="ru-RU" sz="2300" dirty="0" smtClean="0"/>
              <a:t>Настроена </a:t>
            </a:r>
            <a:r>
              <a:rPr lang="ru-RU" sz="2300" dirty="0"/>
              <a:t>база данных </a:t>
            </a:r>
            <a:r>
              <a:rPr lang="ru-RU" sz="2300" dirty="0" err="1"/>
              <a:t>SQLite</a:t>
            </a:r>
            <a:r>
              <a:rPr lang="ru-RU" sz="2300" dirty="0"/>
              <a:t> для хранения 3</a:t>
            </a:r>
            <a:r>
              <a:rPr lang="en-US" sz="2300" dirty="0"/>
              <a:t>D</a:t>
            </a:r>
            <a:r>
              <a:rPr lang="ru-RU" sz="2300" dirty="0"/>
              <a:t>-моделей и их настроек, обеспечивающая простоту и </a:t>
            </a:r>
            <a:r>
              <a:rPr lang="ru-RU" sz="2300" dirty="0" smtClean="0"/>
              <a:t>производительность</a:t>
            </a:r>
            <a:r>
              <a:rPr lang="en-US" sz="2300" dirty="0" smtClean="0"/>
              <a:t>.</a:t>
            </a:r>
            <a:r>
              <a:rPr lang="ru-RU" sz="2300" dirty="0" smtClean="0"/>
              <a:t>(Загрузка модели происходит менее чем за 2с).</a:t>
            </a:r>
            <a:endParaRPr lang="ru-RU" sz="2300" dirty="0"/>
          </a:p>
          <a:p>
            <a:pPr lvl="5">
              <a:lnSpc>
                <a:spcPct val="120000"/>
              </a:lnSpc>
            </a:pPr>
            <a:r>
              <a:rPr lang="ru-RU" sz="2300" dirty="0"/>
              <a:t>П</a:t>
            </a:r>
            <a:r>
              <a:rPr lang="ru-RU" sz="2300" dirty="0" smtClean="0"/>
              <a:t>роведено </a:t>
            </a:r>
            <a:r>
              <a:rPr lang="ru-RU" sz="2300" dirty="0"/>
              <a:t>тестирование, подтвердившее работоспособность всех компонентов приложения.</a:t>
            </a:r>
          </a:p>
          <a:p>
            <a:pPr lvl="5">
              <a:lnSpc>
                <a:spcPct val="120000"/>
              </a:lnSpc>
            </a:pPr>
            <a:endParaRPr lang="ru-RU" sz="2100" dirty="0"/>
          </a:p>
        </p:txBody>
      </p:sp>
    </p:spTree>
    <p:extLst>
      <p:ext uri="{BB962C8B-B14F-4D97-AF65-F5344CB8AC3E}">
        <p14:creationId xmlns:p14="http://schemas.microsoft.com/office/powerpoint/2010/main" val="2200089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4F707855-C815-4FF1-B493-8351700E17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67416" y="2677297"/>
            <a:ext cx="6673723" cy="1997341"/>
          </a:xfrm>
        </p:spPr>
        <p:txBody>
          <a:bodyPr>
            <a:normAutofit/>
          </a:bodyPr>
          <a:lstStyle/>
          <a:p>
            <a:pPr algn="l"/>
            <a:r>
              <a:rPr lang="ru-RU" sz="480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872730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итульная страница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75426110-BF82-4921-B51E-81780A536C48}"/>
    </a:ext>
  </a:extLst>
</a:theme>
</file>

<file path=ppt/theme/theme2.xml><?xml version="1.0" encoding="utf-8"?>
<a:theme xmlns:a="http://schemas.openxmlformats.org/drawingml/2006/main" name="Текстовые блоки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8C20C85A-CFD0-4C40-80A0-6689F915CE1B}"/>
    </a:ext>
  </a:extLst>
</a:theme>
</file>

<file path=ppt/theme/theme3.xml><?xml version="1.0" encoding="utf-8"?>
<a:theme xmlns:a="http://schemas.openxmlformats.org/drawingml/2006/main" name="Дополнительные блоки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AFBC0B84-8B15-49D7-9C5E-B813409B8E8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ГУАП презентация курса - шаблон</Template>
  <TotalTime>1077</TotalTime>
  <Words>1575</Words>
  <Application>Microsoft Office PowerPoint</Application>
  <PresentationFormat>Широкоэкранный</PresentationFormat>
  <Paragraphs>167</Paragraphs>
  <Slides>16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16</vt:i4>
      </vt:variant>
    </vt:vector>
  </HeadingPairs>
  <TitlesOfParts>
    <vt:vector size="23" baseType="lpstr">
      <vt:lpstr>Arial</vt:lpstr>
      <vt:lpstr>Calibri</vt:lpstr>
      <vt:lpstr>roboto</vt:lpstr>
      <vt:lpstr>Wingdings</vt:lpstr>
      <vt:lpstr>Титульная страница</vt:lpstr>
      <vt:lpstr>Текстовые блоки</vt:lpstr>
      <vt:lpstr>Дополнительные блоки</vt:lpstr>
      <vt:lpstr>Разработка веб-интерфейса для отображения взаимодействия настроек на 3D визуализацию цифрового телеуправляемого рентгеновского аппарата</vt:lpstr>
      <vt:lpstr>Цель работы и решаемые задачи</vt:lpstr>
      <vt:lpstr>Актуальность</vt:lpstr>
      <vt:lpstr>Выбранный стек технологий</vt:lpstr>
      <vt:lpstr>Создание 3D модели</vt:lpstr>
      <vt:lpstr>Общая архитектура приложения</vt:lpstr>
      <vt:lpstr>Архитектура клиентской части приложения</vt:lpstr>
      <vt:lpstr>Архитектура серверной части</vt:lpstr>
      <vt:lpstr>Архитектура эмулятора</vt:lpstr>
      <vt:lpstr>Результаты – Преобразование JSON в интерфейс</vt:lpstr>
      <vt:lpstr>Результаты – Возможность настройки моделей</vt:lpstr>
      <vt:lpstr>Результаты – Возможность предпросмотра моделей</vt:lpstr>
      <vt:lpstr>Результаты – Интерфейс подключения к аппарату</vt:lpstr>
      <vt:lpstr>Результаты – Интерфейс программы</vt:lpstr>
      <vt:lpstr>Заключение</vt:lpstr>
      <vt:lpstr>Презентация PowerPoint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Фирменный стиль  презентаций</dc:title>
  <dc:creator>Никита Никифоров</dc:creator>
  <cp:lastModifiedBy>Никита Никифоров</cp:lastModifiedBy>
  <cp:revision>47</cp:revision>
  <dcterms:created xsi:type="dcterms:W3CDTF">2023-06-16T08:15:39Z</dcterms:created>
  <dcterms:modified xsi:type="dcterms:W3CDTF">2025-06-17T20:03:04Z</dcterms:modified>
</cp:coreProperties>
</file>